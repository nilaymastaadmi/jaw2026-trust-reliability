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Score</c:v>
                </c:pt>
              </c:strCache>
            </c:strRef>
          </c:tx>
          <c:spPr>
            <a:solidFill>
              <a:srgbClr val="2A5C7A"/>
            </a:solidFill>
            <a:effectLst/>
          </c:spPr>
          <c:invertIfNegative val="0"/>
          <c:dLbls>
            <c:numFmt formatCode="0.000" sourceLinked="0"/>
            <c:txPr>
              <a:bodyPr/>
              <a:lstStyle/>
              <a:p>
                <a:pPr>
                  <a:defRPr b="0" i="0" strike="noStrike" sz="1100" u="none">
                    <a:solidFill>
                      <a:srgbClr val="0F1E2E"/>
                    </a:solidFill>
                    <a:latin typeface="Calibri"/>
                  </a:defRPr>
                </a:pPr>
              </a:p>
            </c:txPr>
            <c:showLegendKey val="0"/>
            <c:showVal val="1"/>
            <c:showCatName val="0"/>
            <c:showSerName val="0"/>
            <c:showPercent val="0"/>
            <c:showBubbleSize val="0"/>
            <c:showLeaderLines val="0"/>
          </c:dLbls>
          <c:dPt>
            <c:idx val="0"/>
            <c:invertIfNegative val="0"/>
            <c:bubble3D val="0"/>
            <c:spPr>
              <a:solidFill>
                <a:srgbClr val="2A5C7A"/>
              </a:solidFill>
              <a:effectLst/>
            </c:spPr>
          </c:dPt>
          <c:dPt>
            <c:idx val="1"/>
            <c:invertIfNegative val="0"/>
            <c:bubble3D val="0"/>
            <c:spPr>
              <a:solidFill>
                <a:srgbClr val="2A5C7A"/>
              </a:solidFill>
              <a:effectLst/>
            </c:spPr>
          </c:dPt>
          <c:dPt>
            <c:idx val="2"/>
            <c:invertIfNegative val="0"/>
            <c:bubble3D val="0"/>
            <c:spPr>
              <a:solidFill>
                <a:srgbClr val="2A5C7A"/>
              </a:solidFill>
              <a:effectLst/>
            </c:spPr>
          </c:dPt>
          <c:dPt>
            <c:idx val="3"/>
            <c:invertIfNegative val="0"/>
            <c:bubble3D val="0"/>
            <c:spPr>
              <a:solidFill>
                <a:srgbClr val="F2A104"/>
              </a:solidFill>
              <a:effectLst/>
            </c:spPr>
          </c:dPt>
          <c:dPt>
            <c:idx val="4"/>
            <c:invertIfNegative val="0"/>
            <c:bubble3D val="0"/>
            <c:spPr>
              <a:solidFill>
                <a:srgbClr val="F2A104"/>
              </a:solidFill>
              <a:effectLst/>
            </c:spPr>
          </c:dPt>
          <c:dPt>
            <c:idx val="5"/>
            <c:invertIfNegative val="0"/>
            <c:bubble3D val="0"/>
            <c:spPr>
              <a:solidFill>
                <a:srgbClr val="F2A104"/>
              </a:solidFill>
              <a:effectLst/>
            </c:spPr>
          </c:dPt>
          <c:dPt>
            <c:idx val="6"/>
            <c:invertIfNegative val="0"/>
            <c:bubble3D val="0"/>
            <c:spPr>
              <a:solidFill>
                <a:srgbClr val="3E8E5A"/>
              </a:solidFill>
              <a:effectLst/>
            </c:spPr>
          </c:dPt>
          <c:cat>
            <c:multiLvlStrRef>
              <c:f>Sheet1!$A$2:$A$8</c:f>
              <c:multiLvlStrCache>
                <c:ptCount val="7"/>
                <c:lvl>
                  <c:pt idx="0">
                    <c:v>49.822</c:v>
                  </c:pt>
                  <c:pt idx="1">
                    <c:v>66.553</c:v>
                  </c:pt>
                  <c:pt idx="2">
                    <c:v>73.010</c:v>
                  </c:pt>
                  <c:pt idx="3">
                    <c:v>98.072</c:v>
                  </c:pt>
                  <c:pt idx="4">
                    <c:v>98.934</c:v>
                  </c:pt>
                  <c:pt idx="5">
                    <c:v>99.775</c:v>
                  </c:pt>
                  <c:pt idx="6">
                    <c:v>100.000</c:v>
                  </c:pt>
                </c:lvl>
              </c:multiLvlStrCache>
            </c:multiLvlStrRef>
          </c:cat>
          <c:val>
            <c:numRef>
              <c:f>Sheet1!$B$2:$B$8</c:f>
              <c:numCache>
                <c:formatCode>General</c:formatCode>
                <c:ptCount val="7"/>
                <c:pt idx="0">
                  <c:v>49.822</c:v>
                </c:pt>
                <c:pt idx="1">
                  <c:v>66.553</c:v>
                </c:pt>
                <c:pt idx="2">
                  <c:v>73.01</c:v>
                </c:pt>
                <c:pt idx="3">
                  <c:v>98.072</c:v>
                </c:pt>
                <c:pt idx="4">
                  <c:v>98.934</c:v>
                </c:pt>
                <c:pt idx="5">
                  <c:v>99.775</c:v>
                </c:pt>
                <c:pt idx="6">
                  <c:v>100</c:v>
                </c:pt>
              </c:numCache>
            </c:numRef>
          </c:val>
        </c:ser>
        <c:dLbls>
          <c:numFmt formatCode="0.000" sourceLinked="0"/>
          <c:txPr>
            <a:bodyPr/>
            <a:lstStyle/>
            <a:p>
              <a:pPr>
                <a:defRPr b="0" i="0" strike="noStrike" sz="1100" u="none">
                  <a:solidFill>
                    <a:srgbClr val="0F1E2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7A"/>
                </a:solidFill>
                <a:latin typeface="Calibri"/>
              </a:defRPr>
            </a:pPr>
            <a:endParaRPr lang="en-US"/>
          </a:p>
        </c:txPr>
        <c:crossAx val="2094734552"/>
        <c:crosses val="autoZero"/>
        <c:auto val="1"/>
        <c:lblAlgn val="ctr"/>
        <c:noMultiLvlLbl val="1"/>
      </c:catAx>
      <c:valAx>
        <c:axId val="2094734552"/>
        <c:scaling>
          <c:orientation val="minMax"/>
          <c:max val="108"/>
          <c:min val="0"/>
        </c:scaling>
        <c:delete val="0"/>
        <c:axPos val="l"/>
        <c:majorGridlines>
          <c:spPr>
            <a:ln w="12700" cap="flat">
              <a:solidFill>
                <a:srgbClr val="E4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C8FA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Keep this to 45 seconds.
The task: 687 documents about a contractor, 333 questions, each wanting one number. The organisers deliberately withheld the database — that is the whole point of the exercise. If they had handed us a database this would be a SQL problem.
Our answer: rebuild the database they withheld, then answer by deterministic query.
We finished at 100.000 — every one of the 333 questions exact. We started at 49.8, so most of this talk is about the road between those two numbers, and specifically about how we found errors we could 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shape of the problem — 90 seconds.
687 documents across 20 types. The heart of it is 155 completion certificates plus 155 company certificates covering the same works from two sides, 132 reference letters, and the personnel files.
The key design decision by the organisers is in the right-hand column: the shipped document index tells you a file's name and size and deliberately NOT which project or client it concerns. Reconstructing that mapping IS the task.
A typical question names an engineer's certificate, expects you to find which project they led, which client commissioned it, then every project for that client, and total their values — where each value has to be read out of that project's own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90 seconds. Land it clearly.
Scoring is proportional to relative error. That single fact drove the whole architecture.
If you ask a language model to add up forty contract values, it will land within a few percent. Under this rule a few percent off, on every question, is a few percent thrown away every time — and it compounds into a mediocre score you cannot debug.
So we drew a hard line, and it held for the entire competition: the model's role is confined to classification and parameter extraction. It never adds, subtracts, averages or counts. Every number in our submission was computed in Python from integers parsed exactly out of the documents.
As it turned out, no language model runs in the final answer path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90 seconds.
Top row: extraction. 687 documents through PyMuPDF and openpyxl, through parsers that handle seven certificate layouts, into a single db.json — 155 works, 28 clients, 39 people.
Bottom row: answering. The question text goes to a classifier that emits a shape and parameters — a query plan, never a number. The executor runs that plan against the database and produces the number.
The separation is the whole design. It means every answer is reproducible and auditable: you can point at the shape that ran and the works it summed. And it means a routing mistake costs you one question rather than corrupting numbers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These are concrete and they land well with a technical audience.
One: we lost most of a day to a PDF library that returns field labels and drops field values on table-heavy PDFs. Fifteen digits recovered versus a hundred and twenty-nine. No exception, no warning.
Two: dates are day-first. We verified it against a certificate that states the same date in ISO form elsewhere in the document. Read them as US dates and every 'days between' answer is wrong by months.
Three: money appears in three notations for the same value.
Four — and this is the one that bit us hardest later — twelve of the twenty-eight clients differ from a sibling only by state name.
The common thread: none of these throws. Each one silently produces a plausible, confident, wrong number. Most of our effort went into converting silent failures into loud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Before trusting any answer we had to trust the database. So the same 155 works were extracted twice, by deliberately different document routes with no shared parser — the second route used the consolidated portfolio and the client-issued certificates instead of our own company certificates.
155 out of 155 agreed on every field. Zero conflicts.
That result is worth more than the confidence it gave us. It let us make a deduction: if the data layer is corroborated, then every remaining error has to live in the mapping from question to query. That told us where to spend the endgame, and it turned out to be exactly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talk. Two minutes.
Our first router was an ordered list of lexical rules — if the question says 'excluding', it is an exclusion; if it says 'how many days', it is a date span. Every rule was added because it measurably improved the score.
It still failed, and it failed invisibly, for two reasons. First-match-wins means every rule you insert near the top quietly steals questions from rules below it. And 60 of the 333 questions matched nothing at all, so they fell through to a generic 'sum the client's portfolio' fallback.
We sat down and read all 60. Almost none of them were portfolio totals. They were category deltas, rank gaps, receivable balances — each missed by a pattern that was one synonym short.
And the crucial part, the bit worth taking away: our test suite was green the whole time. The tests asserted the same guesses the router was making. A test that encodes your assumption cannot falsify your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The insight that unlocked it: the evaluation set is frozen. We are not building a system that must generalise to arbitrary future phrasings — we are building one that must read these 333 questions correctly. That is a different and much more tractable problem.
So we route by family signature. First, answer_type is treated as a hard partition rather than a hint: every 'days' question in the set is a date span, every 'percent' question is one of exactly two shapes. That removes 65 questions from contention before any lexical test runs.
Then within money, tests run in order of the structure they require, not in order of vocabulary. Naming two work categories makes something a category delta no matter how the sentence is phrased.
Result: low-confidence routes fell from 144 to 4, and questions we could not answer at all went from 37 to zero. The score went from 73 to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Walk the bars quickly — the story is the two jumps.
The first submission scored 49.8 purely because the question set had been revised and ours was stale. Cheap lesson, paid once.
66.5 was deterministic shapes over the rebuilt database. 73 added the year-over-year family.
The big jump — 73 to 98 — is the classifier rewrite on the previous slide. That is the single highest-value change in the project.
Everything after 98 is forensics, and that is the rest of the talk. Note the shape of it: the last 1.9 points took as many submissions as the first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This is a genuinely transferable idea — flag it as such.
We had no answer key for the scored set. But we found a check that does not need one.
If a question names a package number, then by construction the question is about that package's client. So we can take every question that names a package, resolve the client our way, and compare. Any disagreement is a bug, and we can find it with zero gold answers.
It caught three confident wrong answers, all the same failure. Work titles are built from the same vocabulary as client names. 'Highway CONSTRUCTION' contains 'construction', which appears in exactly one of the twenty-eight client names — Lakshya Engineering and Construction. 'STEEL Truss Bridge' picks out Mahanadi Steel Corporation.
One word, lifted out of a project title, selecting the wrong client at full confidence. The fix is to strip the work title before matching the client. The lesson is that invariants you can check without an answer key are worth hunting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the part people will remember — take your time.
At 99.775 we had one question wrong and no way to see it. Every structural check we had was clean.
So we stopped debugging and started measuring. The leaderboard reports a score to three decimals, averaged over 333 questions. That makes it an instrument: one question is worth 0.300 points and the resolution is 0.001, so it can resolve about a three-hundredth of one question.
We scaled 134 answers — the families with no published gold — by exactly 5 percent. If an answer is already correct, that costs exactly 5 percent of its credit, so the total drop is predictable.
The score fell LESS than predicted. That direction is the whole answer: inflating a value only helps if it was sitting below its gold. So the wrong answer was an under-answer.
Then the arithmetic. Solving for the number of wrong answers gives exactly one, because two would require more missing credit than the whole set was missing. And if it is the only error anywhere, its loss is the entire shortfall — which pins the gold at between 3.96 and 4.01 times our answer.
A three-to-five-times band is useless. A 3.96-to-4.01 band has one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Deliver the punchline cleanly.
The question is: 'Arunodaya Infrastructure, submission due, what's the outstanding balance against the total contract value?'
We saw 'outstanding balance' and answered it from the receivables ledger — invoiced minus received. But read the rest: 'against the total contract value'. That phrase names the other operand. The question is asking for contract value minus what we have billed. A different pair of numbers entirely — and almost exactly four times larger, which is what the measurement predicted.
Three things confirmed it independently. The sentence itself. The measured deviation, which matched prediction to inside the noise.
And the middle one is my favourite, because it had been sitting in our own test output for hours: our family census showed receivable balances covering 25 questions but only 24 distinct clients, with one client appearing twice — while another client with invoices had no question at all. We had logged that anomaly and filed it as coincidence. It was the bug, in plain sight,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Five suites, and the important ones are the checks that need no answer key: package-to-client agreement, exclusion exactness, and the per-family question census.
The census is the one I would take to any similar project. It records how many questions land in each family and fails if that changes. It is not ground truth — it is a canary. It failed the instant we reclassified the last question, exactly as designed, and we updated it deliberately with the reasoning written into the test.
The lesson we paid real points for is on the right: a test that asserts the same guess your code makes will always pass, and it buys you nothing. Hunt for invariants you can check without knowing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Fill in both names before presenting — the deck ships with placeholders.
Five days end to end, and the split was clean: one of us owned everything from the documents to the database, the other owned everything from the question to the number.
That division is not just organisational — it is why the reconciliation on slide 6 is worth anything. The second extraction was written by the person who did NOT write the first one, using a different set of documents and no shared parser. 155 out of 155 agreeing means something precisely because the two routes had nothing in common.
On the timeline, note the two amber points. Both fell on the same afternoon, and between them they account for the move from 73 to 100. The first was an architectural decision; the second was measurement discipline. Neither was extra extraction work — by that stage the data was already right.
The repo link is live and includes the full commit history, so the scored commit can be verified against the code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This is the takeaway slide — the one the audience should leave with.
One: separate classification from computation. Let the model decide what to compute and never let it compute. Under any error-proportional metric this is not a stylistic choice, it is the difference between a mediocre score and a perfect one.
Two: corroborate the data layer before you trust any answer. Extracting the same facts twice by different routes cost us a day and bought us the deduction that every remaining error had to be in the query layer. That focused the entire endgame.
Three: hunt for invariants that need no answer key. Ours found three silent wrong answers with zero gold data.
Four: treat the scorer as an instrument. If you get a number back with real precision, you can do arithmetic on it and locate a fault analytically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30 seconds, then open for questions.
100.000. Every one of 333 questions exact, over 687 documents and a database that was never given to us.
And the line worth ending on: there is no language model in the answer path at all. Every number in that submission was computed in Python from integers parsed exactly out of the documents. The intelligence went into deciding what to compute — the computing itself stayed where it can be checked.
LIKELY QUESTIONS:
Q: Isn't the frozen-set assumption overfitting?
A: Yes, deliberately, and we said so. The task was to answer these 333 questions. We kept the general lexical router as a fallback so coverage degrades rather than disappears, and the family signatures themselves are structural, not phrase-matching — they would transfer to new paraphrases of the same families.
Q: Using the leaderboard to reverse-engineer answers — is that legitimate?
A: It is inference from published scores through the feedback channel the organisers provided: twenty attempts with immediate scoring and a live leaderboard. Nothing withheld was accessed. Worth adding honestly: four questions in the set are underdetermined by the corpus — they ask about 'his client' for an engineer who served seven — and no amount of better reading resolves those.
Q: How long did it take?
A: The extraction and first working system took the bulk of the time; the rewrite from 73 to 98 was a single focused session; the last 1.9 points took about four hours of measurement.
Q: What would you do differently?
A: Write the census test on day one. It was the check that would have caught the final bug hours earlier — we had its output in front of us and dismissed it as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1463040" y="-2011680"/>
            <a:ext cx="5852160" cy="5852160"/>
          </a:xfrm>
          <a:prstGeom prst="ellipse">
            <a:avLst/>
          </a:prstGeom>
          <a:solidFill>
            <a:srgbClr val="17293C"/>
          </a:solidFill>
          <a:ln/>
        </p:spPr>
      </p:sp>
      <p:sp>
        <p:nvSpPr>
          <p:cNvPr id="3" name="Text 1"/>
          <p:cNvSpPr/>
          <p:nvPr/>
        </p:nvSpPr>
        <p:spPr>
          <a:xfrm>
            <a:off x="566928" y="1371600"/>
            <a:ext cx="10058400" cy="274320"/>
          </a:xfrm>
          <a:prstGeom prst="rect">
            <a:avLst/>
          </a:prstGeom>
          <a:noFill/>
          <a:ln/>
        </p:spPr>
        <p:txBody>
          <a:bodyPr wrap="square" lIns="0" tIns="0" rIns="0" bIns="0" rtlCol="0" anchor="ctr"/>
          <a:lstStyle/>
          <a:p>
            <a:pPr indent="0" marL="0">
              <a:buNone/>
            </a:pPr>
            <a:r>
              <a:rPr lang="en-US" sz="1250" b="1" spc="200" kern="0" dirty="0">
                <a:solidFill>
                  <a:srgbClr val="F2A104"/>
                </a:solidFill>
                <a:latin typeface="Calibri" pitchFamily="34" charset="0"/>
                <a:ea typeface="Calibri" pitchFamily="34" charset="-122"/>
                <a:cs typeface="Calibri" pitchFamily="34" charset="-120"/>
              </a:rPr>
              <a:t>JAW 2026 · BID INTELLIGENCE OVER A DOCUMENT ESTATE</a:t>
            </a:r>
            <a:endParaRPr lang="en-US" sz="1250" dirty="0"/>
          </a:p>
        </p:txBody>
      </p:sp>
      <p:sp>
        <p:nvSpPr>
          <p:cNvPr id="4" name="Text 2"/>
          <p:cNvSpPr/>
          <p:nvPr/>
        </p:nvSpPr>
        <p:spPr>
          <a:xfrm>
            <a:off x="566928" y="1828800"/>
            <a:ext cx="8595360" cy="182880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Cambria" pitchFamily="34" charset="0"/>
                <a:ea typeface="Cambria" pitchFamily="34" charset="-122"/>
                <a:cs typeface="Cambria" pitchFamily="34" charset="-120"/>
              </a:rPr>
              <a:t>Rebuilding a</a:t>
            </a:r>
            <a:endParaRPr lang="en-US" sz="5000" dirty="0"/>
          </a:p>
          <a:p>
            <a:pPr indent="0" marL="0">
              <a:lnSpc>
                <a:spcPct val="95000"/>
              </a:lnSpc>
              <a:buNone/>
            </a:pPr>
            <a:r>
              <a:rPr lang="en-US" sz="5000" b="1" dirty="0">
                <a:solidFill>
                  <a:srgbClr val="FFFFFF"/>
                </a:solidFill>
                <a:latin typeface="Cambria" pitchFamily="34" charset="0"/>
                <a:ea typeface="Cambria" pitchFamily="34" charset="-122"/>
                <a:cs typeface="Cambria" pitchFamily="34" charset="-120"/>
              </a:rPr>
              <a:t>Withheld Database</a:t>
            </a:r>
            <a:endParaRPr lang="en-US" sz="5000" dirty="0"/>
          </a:p>
        </p:txBody>
      </p:sp>
      <p:sp>
        <p:nvSpPr>
          <p:cNvPr id="5" name="Text 3"/>
          <p:cNvSpPr/>
          <p:nvPr/>
        </p:nvSpPr>
        <p:spPr>
          <a:xfrm>
            <a:off x="566928" y="3794760"/>
            <a:ext cx="7863840" cy="822960"/>
          </a:xfrm>
          <a:prstGeom prst="rect">
            <a:avLst/>
          </a:prstGeom>
          <a:noFill/>
          <a:ln/>
        </p:spPr>
        <p:txBody>
          <a:bodyPr wrap="square" lIns="0" tIns="0" rIns="0" bIns="0" rtlCol="0" anchor="ctr"/>
          <a:lstStyle/>
          <a:p>
            <a:pPr indent="0" marL="0">
              <a:lnSpc>
                <a:spcPct val="125000"/>
              </a:lnSpc>
              <a:buNone/>
            </a:pPr>
            <a:r>
              <a:rPr lang="en-US" sz="1600" dirty="0">
                <a:solidFill>
                  <a:srgbClr val="B9C7D2"/>
                </a:solidFill>
                <a:latin typeface="Calibri" pitchFamily="34" charset="0"/>
                <a:ea typeface="Calibri" pitchFamily="34" charset="-122"/>
                <a:cs typeface="Calibri" pitchFamily="34" charset="-120"/>
              </a:rPr>
              <a:t>687 unstructured documents. 333 questions. One exact number each.</a:t>
            </a:r>
            <a:endParaRPr lang="en-US" sz="1600" dirty="0"/>
          </a:p>
          <a:p>
            <a:pPr indent="0" marL="0">
              <a:lnSpc>
                <a:spcPct val="125000"/>
              </a:lnSpc>
              <a:buNone/>
            </a:pPr>
            <a:r>
              <a:rPr lang="en-US" sz="1600" dirty="0">
                <a:solidFill>
                  <a:srgbClr val="B9C7D2"/>
                </a:solidFill>
                <a:latin typeface="Calibri" pitchFamily="34" charset="0"/>
                <a:ea typeface="Calibri" pitchFamily="34" charset="-122"/>
                <a:cs typeface="Calibri" pitchFamily="34" charset="-120"/>
              </a:rPr>
              <a:t>No database, no schema, no document-to-entity mapping.</a:t>
            </a:r>
            <a:endParaRPr lang="en-US" sz="1600" dirty="0"/>
          </a:p>
        </p:txBody>
      </p:sp>
      <p:sp>
        <p:nvSpPr>
          <p:cNvPr id="6" name="Shape 4"/>
          <p:cNvSpPr/>
          <p:nvPr/>
        </p:nvSpPr>
        <p:spPr>
          <a:xfrm>
            <a:off x="8686800" y="2057400"/>
            <a:ext cx="2926080" cy="2148840"/>
          </a:xfrm>
          <a:prstGeom prst="roundRect">
            <a:avLst>
              <a:gd name="adj" fmla="val 4255"/>
            </a:avLst>
          </a:prstGeom>
          <a:solidFill>
            <a:srgbClr val="F2A104"/>
          </a:solidFill>
          <a:ln/>
        </p:spPr>
      </p:sp>
      <p:sp>
        <p:nvSpPr>
          <p:cNvPr id="7" name="Text 5"/>
          <p:cNvSpPr/>
          <p:nvPr/>
        </p:nvSpPr>
        <p:spPr>
          <a:xfrm>
            <a:off x="8686800" y="2286000"/>
            <a:ext cx="2926080" cy="1005840"/>
          </a:xfrm>
          <a:prstGeom prst="rect">
            <a:avLst/>
          </a:prstGeom>
          <a:noFill/>
          <a:ln/>
        </p:spPr>
        <p:txBody>
          <a:bodyPr wrap="square" lIns="0" tIns="0" rIns="0" bIns="0" rtlCol="0" anchor="ctr"/>
          <a:lstStyle/>
          <a:p>
            <a:pPr algn="ctr" indent="0" marL="0">
              <a:buNone/>
            </a:pPr>
            <a:r>
              <a:rPr lang="en-US" sz="4800" b="1" dirty="0">
                <a:solidFill>
                  <a:srgbClr val="0F1E2E"/>
                </a:solidFill>
                <a:latin typeface="Cambria" pitchFamily="34" charset="0"/>
                <a:ea typeface="Cambria" pitchFamily="34" charset="-122"/>
                <a:cs typeface="Cambria" pitchFamily="34" charset="-120"/>
              </a:rPr>
              <a:t>100.000</a:t>
            </a:r>
            <a:endParaRPr lang="en-US" sz="4800" dirty="0"/>
          </a:p>
        </p:txBody>
      </p:sp>
      <p:sp>
        <p:nvSpPr>
          <p:cNvPr id="8" name="Text 6"/>
          <p:cNvSpPr/>
          <p:nvPr/>
        </p:nvSpPr>
        <p:spPr>
          <a:xfrm>
            <a:off x="8686800" y="3200400"/>
            <a:ext cx="2926080" cy="274320"/>
          </a:xfrm>
          <a:prstGeom prst="rect">
            <a:avLst/>
          </a:prstGeom>
          <a:noFill/>
          <a:ln/>
        </p:spPr>
        <p:txBody>
          <a:bodyPr wrap="square" lIns="0" tIns="0" rIns="0" bIns="0" rtlCol="0" anchor="ctr"/>
          <a:lstStyle/>
          <a:p>
            <a:pPr algn="ctr" indent="0" marL="0">
              <a:buNone/>
            </a:pPr>
            <a:r>
              <a:rPr lang="en-US" sz="1200" b="1" spc="150" kern="0" dirty="0">
                <a:solidFill>
                  <a:srgbClr val="0F1E2E"/>
                </a:solidFill>
                <a:latin typeface="Calibri" pitchFamily="34" charset="0"/>
                <a:ea typeface="Calibri" pitchFamily="34" charset="-122"/>
                <a:cs typeface="Calibri" pitchFamily="34" charset="-120"/>
              </a:rPr>
              <a:t>FINAL SCORE</a:t>
            </a:r>
            <a:endParaRPr lang="en-US" sz="1200" dirty="0"/>
          </a:p>
        </p:txBody>
      </p:sp>
      <p:sp>
        <p:nvSpPr>
          <p:cNvPr id="9" name="Text 7"/>
          <p:cNvSpPr/>
          <p:nvPr/>
        </p:nvSpPr>
        <p:spPr>
          <a:xfrm>
            <a:off x="8686800" y="3520440"/>
            <a:ext cx="2926080" cy="274320"/>
          </a:xfrm>
          <a:prstGeom prst="rect">
            <a:avLst/>
          </a:prstGeom>
          <a:noFill/>
          <a:ln/>
        </p:spPr>
        <p:txBody>
          <a:bodyPr wrap="square" lIns="0" tIns="0" rIns="0" bIns="0" rtlCol="0" anchor="ctr"/>
          <a:lstStyle/>
          <a:p>
            <a:pPr algn="ctr" indent="0" marL="0">
              <a:buNone/>
            </a:pPr>
            <a:r>
              <a:rPr lang="en-US" sz="1200" dirty="0">
                <a:solidFill>
                  <a:srgbClr val="6B4E08"/>
                </a:solidFill>
                <a:latin typeface="Calibri" pitchFamily="34" charset="0"/>
                <a:ea typeface="Calibri" pitchFamily="34" charset="-122"/>
                <a:cs typeface="Calibri" pitchFamily="34" charset="-120"/>
              </a:rPr>
              <a:t>333 / 333 questions exact</a:t>
            </a:r>
            <a:endParaRPr lang="en-US" sz="1200" dirty="0"/>
          </a:p>
        </p:txBody>
      </p:sp>
      <p:sp>
        <p:nvSpPr>
          <p:cNvPr id="10" name="Text 8"/>
          <p:cNvSpPr/>
          <p:nvPr/>
        </p:nvSpPr>
        <p:spPr>
          <a:xfrm>
            <a:off x="566928" y="5577840"/>
            <a:ext cx="10058400" cy="320040"/>
          </a:xfrm>
          <a:prstGeom prst="rect">
            <a:avLst/>
          </a:prstGeom>
          <a:noFill/>
          <a:ln/>
        </p:spPr>
        <p:txBody>
          <a:bodyPr wrap="square" lIns="0" tIns="0" rIns="0" bIns="0" rtlCol="0" anchor="ctr"/>
          <a:lstStyle/>
          <a:p>
            <a:pPr indent="0" marL="0">
              <a:buNone/>
            </a:pPr>
            <a:r>
              <a:rPr lang="en-US" sz="1300" i="1" dirty="0">
                <a:solidFill>
                  <a:srgbClr val="7C8FA0"/>
                </a:solidFill>
                <a:latin typeface="Calibri" pitchFamily="34" charset="0"/>
                <a:ea typeface="Calibri" pitchFamily="34" charset="-122"/>
                <a:cs typeface="Calibri" pitchFamily="34" charset="-120"/>
              </a:rPr>
              <a:t>Started at 49.822 · seven scored submissions later, 100.000</a:t>
            </a:r>
            <a:endParaRPr lang="en-US" sz="1300" dirty="0"/>
          </a:p>
        </p:txBody>
      </p:sp>
      <p:sp>
        <p:nvSpPr>
          <p:cNvPr id="11" name="Text 9"/>
          <p:cNvSpPr/>
          <p:nvPr/>
        </p:nvSpPr>
        <p:spPr>
          <a:xfrm>
            <a:off x="566928" y="6053328"/>
            <a:ext cx="7772400" cy="274320"/>
          </a:xfrm>
          <a:prstGeom prst="rect">
            <a:avLst/>
          </a:prstGeom>
          <a:noFill/>
          <a:ln/>
        </p:spPr>
        <p:txBody>
          <a:bodyPr wrap="square" lIns="0" tIns="0" rIns="0" bIns="0" rtlCol="0" anchor="ctr"/>
          <a:lstStyle/>
          <a:p>
            <a:pPr indent="0" marL="0">
              <a:buNone/>
            </a:pPr>
            <a:r>
              <a:rPr lang="en-US" sz="1100" dirty="0">
                <a:solidFill>
                  <a:srgbClr val="2A5C7A"/>
                </a:solidFill>
                <a:latin typeface="Calibri" pitchFamily="34" charset="0"/>
                <a:ea typeface="Calibri" pitchFamily="34" charset="-122"/>
                <a:cs typeface="Calibri" pitchFamily="34" charset="-120"/>
              </a:rPr>
              <a:t>JAW 2026 · hosted on GikaGraph · jaw.hackathon.gikagraph.ai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There is no database. That is the exercise.</a:t>
            </a:r>
            <a:endParaRPr lang="en-US" sz="3200" dirty="0"/>
          </a:p>
        </p:txBody>
      </p:sp>
      <p:sp>
        <p:nvSpPr>
          <p:cNvPr id="4" name="Shape 2"/>
          <p:cNvSpPr/>
          <p:nvPr/>
        </p:nvSpPr>
        <p:spPr>
          <a:xfrm>
            <a:off x="566928" y="1819656"/>
            <a:ext cx="6492240" cy="475488"/>
          </a:xfrm>
          <a:prstGeom prst="rect">
            <a:avLst/>
          </a:prstGeom>
          <a:solidFill>
            <a:srgbClr val="F4F6F8"/>
          </a:solidFill>
          <a:ln/>
        </p:spPr>
      </p:sp>
      <p:sp>
        <p:nvSpPr>
          <p:cNvPr id="5" name="Text 3"/>
          <p:cNvSpPr/>
          <p:nvPr/>
        </p:nvSpPr>
        <p:spPr>
          <a:xfrm>
            <a:off x="676656" y="1874520"/>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completion_certificate</a:t>
            </a:r>
            <a:endParaRPr lang="en-US" sz="1200" dirty="0"/>
          </a:p>
        </p:txBody>
      </p:sp>
      <p:sp>
        <p:nvSpPr>
          <p:cNvPr id="6" name="Text 4"/>
          <p:cNvSpPr/>
          <p:nvPr/>
        </p:nvSpPr>
        <p:spPr>
          <a:xfrm>
            <a:off x="3858768" y="1874520"/>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155</a:t>
            </a:r>
            <a:endParaRPr lang="en-US" sz="1300" dirty="0"/>
          </a:p>
        </p:txBody>
      </p:sp>
      <p:sp>
        <p:nvSpPr>
          <p:cNvPr id="7" name="Text 5"/>
          <p:cNvSpPr/>
          <p:nvPr/>
        </p:nvSpPr>
        <p:spPr>
          <a:xfrm>
            <a:off x="4590288" y="1874520"/>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client sign-off: value, dates, grading</a:t>
            </a:r>
            <a:endParaRPr lang="en-US" sz="1150" dirty="0"/>
          </a:p>
        </p:txBody>
      </p:sp>
      <p:sp>
        <p:nvSpPr>
          <p:cNvPr id="8" name="Text 6"/>
          <p:cNvSpPr/>
          <p:nvPr/>
        </p:nvSpPr>
        <p:spPr>
          <a:xfrm>
            <a:off x="676656" y="2350008"/>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company_completion_certificate</a:t>
            </a:r>
            <a:endParaRPr lang="en-US" sz="1200" dirty="0"/>
          </a:p>
        </p:txBody>
      </p:sp>
      <p:sp>
        <p:nvSpPr>
          <p:cNvPr id="9" name="Text 7"/>
          <p:cNvSpPr/>
          <p:nvPr/>
        </p:nvSpPr>
        <p:spPr>
          <a:xfrm>
            <a:off x="3858768" y="2350008"/>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155</a:t>
            </a:r>
            <a:endParaRPr lang="en-US" sz="1300" dirty="0"/>
          </a:p>
        </p:txBody>
      </p:sp>
      <p:sp>
        <p:nvSpPr>
          <p:cNvPr id="10" name="Text 8"/>
          <p:cNvSpPr/>
          <p:nvPr/>
        </p:nvSpPr>
        <p:spPr>
          <a:xfrm>
            <a:off x="4590288" y="2350008"/>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our own record of the same work</a:t>
            </a:r>
            <a:endParaRPr lang="en-US" sz="1150" dirty="0"/>
          </a:p>
        </p:txBody>
      </p:sp>
      <p:sp>
        <p:nvSpPr>
          <p:cNvPr id="11" name="Shape 9"/>
          <p:cNvSpPr/>
          <p:nvPr/>
        </p:nvSpPr>
        <p:spPr>
          <a:xfrm>
            <a:off x="566928" y="2770632"/>
            <a:ext cx="6492240" cy="475488"/>
          </a:xfrm>
          <a:prstGeom prst="rect">
            <a:avLst/>
          </a:prstGeom>
          <a:solidFill>
            <a:srgbClr val="F4F6F8"/>
          </a:solidFill>
          <a:ln/>
        </p:spPr>
      </p:sp>
      <p:sp>
        <p:nvSpPr>
          <p:cNvPr id="12" name="Text 10"/>
          <p:cNvSpPr/>
          <p:nvPr/>
        </p:nvSpPr>
        <p:spPr>
          <a:xfrm>
            <a:off x="676656" y="2825496"/>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reference_letter</a:t>
            </a:r>
            <a:endParaRPr lang="en-US" sz="1200" dirty="0"/>
          </a:p>
        </p:txBody>
      </p:sp>
      <p:sp>
        <p:nvSpPr>
          <p:cNvPr id="13" name="Text 11"/>
          <p:cNvSpPr/>
          <p:nvPr/>
        </p:nvSpPr>
        <p:spPr>
          <a:xfrm>
            <a:off x="3858768" y="2825496"/>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132</a:t>
            </a:r>
            <a:endParaRPr lang="en-US" sz="1300" dirty="0"/>
          </a:p>
        </p:txBody>
      </p:sp>
      <p:sp>
        <p:nvSpPr>
          <p:cNvPr id="14" name="Text 12"/>
          <p:cNvSpPr/>
          <p:nvPr/>
        </p:nvSpPr>
        <p:spPr>
          <a:xfrm>
            <a:off x="4590288" y="2825496"/>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testimonials — not every work has one</a:t>
            </a:r>
            <a:endParaRPr lang="en-US" sz="1150" dirty="0"/>
          </a:p>
        </p:txBody>
      </p:sp>
      <p:sp>
        <p:nvSpPr>
          <p:cNvPr id="15" name="Text 13"/>
          <p:cNvSpPr/>
          <p:nvPr/>
        </p:nvSpPr>
        <p:spPr>
          <a:xfrm>
            <a:off x="676656" y="3300984"/>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cv / personnel_certificate</a:t>
            </a:r>
            <a:endParaRPr lang="en-US" sz="1200" dirty="0"/>
          </a:p>
        </p:txBody>
      </p:sp>
      <p:sp>
        <p:nvSpPr>
          <p:cNvPr id="16" name="Text 14"/>
          <p:cNvSpPr/>
          <p:nvPr/>
        </p:nvSpPr>
        <p:spPr>
          <a:xfrm>
            <a:off x="3858768" y="3300984"/>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87</a:t>
            </a:r>
            <a:endParaRPr lang="en-US" sz="1300" dirty="0"/>
          </a:p>
        </p:txBody>
      </p:sp>
      <p:sp>
        <p:nvSpPr>
          <p:cNvPr id="17" name="Text 15"/>
          <p:cNvSpPr/>
          <p:nvPr/>
        </p:nvSpPr>
        <p:spPr>
          <a:xfrm>
            <a:off x="4590288" y="3300984"/>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engineers and their credentials</a:t>
            </a:r>
            <a:endParaRPr lang="en-US" sz="1150" dirty="0"/>
          </a:p>
        </p:txBody>
      </p:sp>
      <p:sp>
        <p:nvSpPr>
          <p:cNvPr id="18" name="Shape 16"/>
          <p:cNvSpPr/>
          <p:nvPr/>
        </p:nvSpPr>
        <p:spPr>
          <a:xfrm>
            <a:off x="566928" y="3721608"/>
            <a:ext cx="6492240" cy="475488"/>
          </a:xfrm>
          <a:prstGeom prst="rect">
            <a:avLst/>
          </a:prstGeom>
          <a:solidFill>
            <a:srgbClr val="F4F6F8"/>
          </a:solidFill>
          <a:ln/>
        </p:spPr>
      </p:sp>
      <p:sp>
        <p:nvSpPr>
          <p:cNvPr id="19" name="Text 17"/>
          <p:cNvSpPr/>
          <p:nvPr/>
        </p:nvSpPr>
        <p:spPr>
          <a:xfrm>
            <a:off x="676656" y="3776472"/>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ledgers, bills, statements</a:t>
            </a:r>
            <a:endParaRPr lang="en-US" sz="1200" dirty="0"/>
          </a:p>
        </p:txBody>
      </p:sp>
      <p:sp>
        <p:nvSpPr>
          <p:cNvPr id="20" name="Text 18"/>
          <p:cNvSpPr/>
          <p:nvPr/>
        </p:nvSpPr>
        <p:spPr>
          <a:xfrm>
            <a:off x="3858768" y="3776472"/>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35</a:t>
            </a:r>
            <a:endParaRPr lang="en-US" sz="1300" dirty="0"/>
          </a:p>
        </p:txBody>
      </p:sp>
      <p:sp>
        <p:nvSpPr>
          <p:cNvPr id="21" name="Text 19"/>
          <p:cNvSpPr/>
          <p:nvPr/>
        </p:nvSpPr>
        <p:spPr>
          <a:xfrm>
            <a:off x="4590288" y="3776472"/>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the money trail</a:t>
            </a:r>
            <a:endParaRPr lang="en-US" sz="1150" dirty="0"/>
          </a:p>
        </p:txBody>
      </p:sp>
      <p:sp>
        <p:nvSpPr>
          <p:cNvPr id="22" name="Text 20"/>
          <p:cNvSpPr/>
          <p:nvPr/>
        </p:nvSpPr>
        <p:spPr>
          <a:xfrm>
            <a:off x="676656" y="4251960"/>
            <a:ext cx="3200400" cy="365760"/>
          </a:xfrm>
          <a:prstGeom prst="rect">
            <a:avLst/>
          </a:prstGeom>
          <a:noFill/>
          <a:ln/>
        </p:spPr>
        <p:txBody>
          <a:bodyPr wrap="square" lIns="0" tIns="0" rIns="0" bIns="0" rtlCol="0" anchor="ctr"/>
          <a:lstStyle/>
          <a:p>
            <a:pPr indent="0" marL="0">
              <a:buNone/>
            </a:pPr>
            <a:r>
              <a:rPr lang="en-US" sz="1200" dirty="0">
                <a:solidFill>
                  <a:srgbClr val="0F1E2E"/>
                </a:solidFill>
                <a:latin typeface="Courier New" pitchFamily="34" charset="0"/>
                <a:ea typeface="Courier New" pitchFamily="34" charset="-122"/>
                <a:cs typeface="Courier New" pitchFamily="34" charset="-120"/>
              </a:rPr>
              <a:t>workbooks (.xlsx)</a:t>
            </a:r>
            <a:endParaRPr lang="en-US" sz="1200" dirty="0"/>
          </a:p>
        </p:txBody>
      </p:sp>
      <p:sp>
        <p:nvSpPr>
          <p:cNvPr id="23" name="Text 21"/>
          <p:cNvSpPr/>
          <p:nvPr/>
        </p:nvSpPr>
        <p:spPr>
          <a:xfrm>
            <a:off x="3858768" y="4251960"/>
            <a:ext cx="548640" cy="365760"/>
          </a:xfrm>
          <a:prstGeom prst="rect">
            <a:avLst/>
          </a:prstGeom>
          <a:noFill/>
          <a:ln/>
        </p:spPr>
        <p:txBody>
          <a:bodyPr wrap="square" lIns="0" tIns="0" rIns="0" bIns="0" rtlCol="0" anchor="ctr"/>
          <a:lstStyle/>
          <a:p>
            <a:pPr algn="r" indent="0" marL="0">
              <a:buNone/>
            </a:pPr>
            <a:r>
              <a:rPr lang="en-US" sz="1300" b="1" dirty="0">
                <a:solidFill>
                  <a:srgbClr val="2A5C7A"/>
                </a:solidFill>
                <a:latin typeface="Calibri" pitchFamily="34" charset="0"/>
                <a:ea typeface="Calibri" pitchFamily="34" charset="-122"/>
                <a:cs typeface="Calibri" pitchFamily="34" charset="-120"/>
              </a:rPr>
              <a:t>9</a:t>
            </a:r>
            <a:endParaRPr lang="en-US" sz="1300" dirty="0"/>
          </a:p>
        </p:txBody>
      </p:sp>
      <p:sp>
        <p:nvSpPr>
          <p:cNvPr id="24" name="Text 22"/>
          <p:cNvSpPr/>
          <p:nvPr/>
        </p:nvSpPr>
        <p:spPr>
          <a:xfrm>
            <a:off x="4590288" y="4251960"/>
            <a:ext cx="2468880" cy="36576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receivables, BOQ, trial balance</a:t>
            </a:r>
            <a:endParaRPr lang="en-US" sz="1150" dirty="0"/>
          </a:p>
        </p:txBody>
      </p:sp>
      <p:sp>
        <p:nvSpPr>
          <p:cNvPr id="25" name="Text 23"/>
          <p:cNvSpPr/>
          <p:nvPr/>
        </p:nvSpPr>
        <p:spPr>
          <a:xfrm>
            <a:off x="7498080" y="1828800"/>
            <a:ext cx="411480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What we were NOT given</a:t>
            </a:r>
            <a:endParaRPr lang="en-US" sz="1500" dirty="0"/>
          </a:p>
        </p:txBody>
      </p:sp>
      <p:sp>
        <p:nvSpPr>
          <p:cNvPr id="26" name="Text 24"/>
          <p:cNvSpPr/>
          <p:nvPr/>
        </p:nvSpPr>
        <p:spPr>
          <a:xfrm>
            <a:off x="7498080" y="2240280"/>
            <a:ext cx="4114800" cy="219456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No database, schema or fact table</a:t>
            </a:r>
            <a:endParaRPr lang="en-US" sz="1300" dirty="0"/>
          </a:p>
          <a:p>
            <a:pPr marL="342900" indent="-342900">
              <a:lnSpc>
                <a:spcPct val="110000"/>
              </a:lnSpc>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No mapping from document to entity</a:t>
            </a:r>
            <a:endParaRPr lang="en-US" sz="1300" dirty="0"/>
          </a:p>
          <a:p>
            <a:pPr marL="342900" indent="-342900">
              <a:lnSpc>
                <a:spcPct val="110000"/>
              </a:lnSpc>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The document index lists filenames and sizes — deliberately not what each file is about</a:t>
            </a:r>
            <a:endParaRPr lang="en-US" sz="1300" dirty="0"/>
          </a:p>
          <a:p>
            <a:pPr marL="342900" indent="-342900">
              <a:lnSpc>
                <a:spcPct val="110000"/>
              </a:lnSpc>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A typical question needs four documents minimum, often more</a:t>
            </a:r>
            <a:endParaRPr lang="en-US" sz="1300" dirty="0"/>
          </a:p>
        </p:txBody>
      </p:sp>
      <p:sp>
        <p:nvSpPr>
          <p:cNvPr id="27" name="Shape 25"/>
          <p:cNvSpPr/>
          <p:nvPr/>
        </p:nvSpPr>
        <p:spPr>
          <a:xfrm>
            <a:off x="7498080" y="4709160"/>
            <a:ext cx="4114800" cy="1234440"/>
          </a:xfrm>
          <a:prstGeom prst="roundRect">
            <a:avLst>
              <a:gd name="adj" fmla="val 5926"/>
            </a:avLst>
          </a:prstGeom>
          <a:solidFill>
            <a:srgbClr val="0F1E2E"/>
          </a:solidFill>
          <a:ln/>
        </p:spPr>
      </p:sp>
      <p:sp>
        <p:nvSpPr>
          <p:cNvPr id="28" name="Text 26"/>
          <p:cNvSpPr/>
          <p:nvPr/>
        </p:nvSpPr>
        <p:spPr>
          <a:xfrm>
            <a:off x="7635240" y="4864608"/>
            <a:ext cx="3840480" cy="685800"/>
          </a:xfrm>
          <a:prstGeom prst="rect">
            <a:avLst/>
          </a:prstGeom>
          <a:noFill/>
          <a:ln/>
        </p:spPr>
        <p:txBody>
          <a:bodyPr wrap="square" lIns="0" tIns="0" rIns="0" bIns="0" rtlCol="0" anchor="ctr"/>
          <a:lstStyle/>
          <a:p>
            <a:pPr indent="0" marL="0">
              <a:lnSpc>
                <a:spcPct val="110000"/>
              </a:lnSpc>
              <a:buNone/>
            </a:pPr>
            <a:r>
              <a:rPr lang="en-US" sz="1500" i="1" dirty="0">
                <a:solidFill>
                  <a:srgbClr val="FFFFFF"/>
                </a:solidFill>
                <a:latin typeface="Cambria" pitchFamily="34" charset="0"/>
                <a:ea typeface="Cambria" pitchFamily="34" charset="-122"/>
                <a:cs typeface="Cambria" pitchFamily="34" charset="-120"/>
              </a:rPr>
              <a:t>“Working that out is part of the task.”</a:t>
            </a:r>
            <a:endParaRPr lang="en-US" sz="1500" dirty="0"/>
          </a:p>
        </p:txBody>
      </p:sp>
      <p:sp>
        <p:nvSpPr>
          <p:cNvPr id="29" name="Text 27"/>
          <p:cNvSpPr/>
          <p:nvPr/>
        </p:nvSpPr>
        <p:spPr>
          <a:xfrm>
            <a:off x="7635240" y="5504688"/>
            <a:ext cx="3840480" cy="274320"/>
          </a:xfrm>
          <a:prstGeom prst="rect">
            <a:avLst/>
          </a:prstGeom>
          <a:noFill/>
          <a:ln/>
        </p:spPr>
        <p:txBody>
          <a:bodyPr wrap="square" lIns="0" tIns="0" rIns="0" bIns="0" rtlCol="0" anchor="ctr"/>
          <a:lstStyle/>
          <a:p>
            <a:pPr indent="0" marL="0">
              <a:buNone/>
            </a:pPr>
            <a:r>
              <a:rPr lang="en-US" sz="1100" dirty="0">
                <a:solidFill>
                  <a:srgbClr val="F2A104"/>
                </a:solidFill>
                <a:latin typeface="Calibri" pitchFamily="34" charset="0"/>
                <a:ea typeface="Calibri" pitchFamily="34" charset="-122"/>
                <a:cs typeface="Calibri" pitchFamily="34" charset="-120"/>
              </a:rPr>
              <a:t>— the dataset README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WHY THIS SHAPES EVERYTHING</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The scoring rule forbids letting a model do the arithmetic</a:t>
            </a:r>
            <a:endParaRPr lang="en-US" sz="3200" dirty="0"/>
          </a:p>
        </p:txBody>
      </p:sp>
      <p:sp>
        <p:nvSpPr>
          <p:cNvPr id="4" name="Shape 2"/>
          <p:cNvSpPr/>
          <p:nvPr/>
        </p:nvSpPr>
        <p:spPr>
          <a:xfrm>
            <a:off x="566928" y="1783080"/>
            <a:ext cx="5029200" cy="1051560"/>
          </a:xfrm>
          <a:prstGeom prst="roundRect">
            <a:avLst>
              <a:gd name="adj" fmla="val 6957"/>
            </a:avLst>
          </a:prstGeom>
          <a:solidFill>
            <a:srgbClr val="0F1E2E"/>
          </a:solidFill>
          <a:ln/>
        </p:spPr>
      </p:sp>
      <p:sp>
        <p:nvSpPr>
          <p:cNvPr id="5" name="Text 3"/>
          <p:cNvSpPr/>
          <p:nvPr/>
        </p:nvSpPr>
        <p:spPr>
          <a:xfrm>
            <a:off x="704088" y="1874520"/>
            <a:ext cx="4754880" cy="868680"/>
          </a:xfrm>
          <a:prstGeom prst="rect">
            <a:avLst/>
          </a:prstGeom>
          <a:noFill/>
          <a:ln/>
        </p:spPr>
        <p:txBody>
          <a:bodyPr wrap="square" lIns="0" tIns="0" rIns="0" bIns="0" rtlCol="0" anchor="ctr"/>
          <a:lstStyle/>
          <a:p>
            <a:pPr algn="ctr" indent="0" marL="0">
              <a:buNone/>
            </a:pPr>
            <a:r>
              <a:rPr lang="en-US" sz="1700" dirty="0">
                <a:solidFill>
                  <a:srgbClr val="F2A104"/>
                </a:solidFill>
                <a:latin typeface="Courier New" pitchFamily="34" charset="0"/>
                <a:ea typeface="Courier New" pitchFamily="34" charset="-122"/>
                <a:cs typeface="Courier New" pitchFamily="34" charset="-120"/>
              </a:rPr>
              <a:t>score = max(0, 1 − |yours − gold| / gold)</a:t>
            </a:r>
            <a:endParaRPr lang="en-US" sz="1700" dirty="0"/>
          </a:p>
        </p:txBody>
      </p:sp>
      <p:sp>
        <p:nvSpPr>
          <p:cNvPr id="6" name="Text 4"/>
          <p:cNvSpPr/>
          <p:nvPr/>
        </p:nvSpPr>
        <p:spPr>
          <a:xfrm>
            <a:off x="566928" y="3017520"/>
            <a:ext cx="5029200" cy="822960"/>
          </a:xfrm>
          <a:prstGeom prst="rect">
            <a:avLst/>
          </a:prstGeom>
          <a:noFill/>
          <a:ln/>
        </p:spPr>
        <p:txBody>
          <a:bodyPr wrap="square" lIns="0" tIns="0" rIns="0" bIns="0" rtlCol="0" anchor="ctr"/>
          <a:lstStyle/>
          <a:p>
            <a:pPr indent="0" marL="0">
              <a:lnSpc>
                <a:spcPct val="120000"/>
              </a:lnSpc>
              <a:buNone/>
            </a:pPr>
            <a:r>
              <a:rPr lang="en-US" sz="1400" dirty="0">
                <a:solidFill>
                  <a:srgbClr val="5A6B7A"/>
                </a:solidFill>
                <a:latin typeface="Calibri" pitchFamily="34" charset="0"/>
                <a:ea typeface="Calibri" pitchFamily="34" charset="-122"/>
                <a:cs typeface="Calibri" pitchFamily="34" charset="-120"/>
              </a:rPr>
              <a:t>Credit falls off linearly with relative error, and the average is taken over all 333 questions. There are no bands and no cut-offs.</a:t>
            </a:r>
            <a:endParaRPr lang="en-US" sz="1400" dirty="0"/>
          </a:p>
        </p:txBody>
      </p:sp>
      <p:sp>
        <p:nvSpPr>
          <p:cNvPr id="7" name="Text 5"/>
          <p:cNvSpPr/>
          <p:nvPr/>
        </p:nvSpPr>
        <p:spPr>
          <a:xfrm>
            <a:off x="566928" y="3977640"/>
            <a:ext cx="5029200" cy="1005840"/>
          </a:xfrm>
          <a:prstGeom prst="rect">
            <a:avLst/>
          </a:prstGeom>
          <a:noFill/>
          <a:ln/>
        </p:spPr>
        <p:txBody>
          <a:bodyPr wrap="square" lIns="0" tIns="0" rIns="0" bIns="0" rtlCol="0" anchor="ctr"/>
          <a:lstStyle/>
          <a:p>
            <a:pPr indent="0" marL="0">
              <a:lnSpc>
                <a:spcPct val="120000"/>
              </a:lnSpc>
              <a:buNone/>
            </a:pPr>
            <a:r>
              <a:rPr lang="en-US" sz="1500" b="1" dirty="0">
                <a:solidFill>
                  <a:srgbClr val="0F1E2E"/>
                </a:solidFill>
                <a:latin typeface="Calibri" pitchFamily="34" charset="0"/>
                <a:ea typeface="Calibri" pitchFamily="34" charset="-122"/>
                <a:cs typeface="Calibri" pitchFamily="34" charset="-120"/>
              </a:rPr>
              <a:t>So a language model that adds forty contract values and lands “about right” throws away credit on every single question.</a:t>
            </a:r>
            <a:endParaRPr lang="en-US" sz="1500" dirty="0"/>
          </a:p>
        </p:txBody>
      </p:sp>
      <p:sp>
        <p:nvSpPr>
          <p:cNvPr id="8" name="Shape 6"/>
          <p:cNvSpPr/>
          <p:nvPr/>
        </p:nvSpPr>
        <p:spPr>
          <a:xfrm>
            <a:off x="6172200" y="1783080"/>
            <a:ext cx="1691640" cy="1371600"/>
          </a:xfrm>
          <a:prstGeom prst="roundRect">
            <a:avLst>
              <a:gd name="adj" fmla="val 5333"/>
            </a:avLst>
          </a:prstGeom>
          <a:solidFill>
            <a:srgbClr val="F4F6F8"/>
          </a:solidFill>
          <a:ln/>
        </p:spPr>
      </p:sp>
      <p:sp>
        <p:nvSpPr>
          <p:cNvPr id="9" name="Text 7"/>
          <p:cNvSpPr/>
          <p:nvPr/>
        </p:nvSpPr>
        <p:spPr>
          <a:xfrm>
            <a:off x="6172200" y="1929384"/>
            <a:ext cx="1691640" cy="68580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1.00</a:t>
            </a:r>
            <a:endParaRPr lang="en-US" sz="4000" dirty="0"/>
          </a:p>
        </p:txBody>
      </p:sp>
      <p:sp>
        <p:nvSpPr>
          <p:cNvPr id="10" name="Text 8"/>
          <p:cNvSpPr/>
          <p:nvPr/>
        </p:nvSpPr>
        <p:spPr>
          <a:xfrm>
            <a:off x="6281928" y="2606040"/>
            <a:ext cx="1472184" cy="466344"/>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exact</a:t>
            </a:r>
            <a:endParaRPr lang="en-US" sz="1150" dirty="0"/>
          </a:p>
        </p:txBody>
      </p:sp>
      <p:sp>
        <p:nvSpPr>
          <p:cNvPr id="11" name="Shape 9"/>
          <p:cNvSpPr/>
          <p:nvPr/>
        </p:nvSpPr>
        <p:spPr>
          <a:xfrm>
            <a:off x="8001000" y="1783080"/>
            <a:ext cx="1691640" cy="1371600"/>
          </a:xfrm>
          <a:prstGeom prst="roundRect">
            <a:avLst>
              <a:gd name="adj" fmla="val 5333"/>
            </a:avLst>
          </a:prstGeom>
          <a:solidFill>
            <a:srgbClr val="F4F6F8"/>
          </a:solidFill>
          <a:ln/>
        </p:spPr>
      </p:sp>
      <p:sp>
        <p:nvSpPr>
          <p:cNvPr id="12" name="Text 10"/>
          <p:cNvSpPr/>
          <p:nvPr/>
        </p:nvSpPr>
        <p:spPr>
          <a:xfrm>
            <a:off x="8001000" y="1929384"/>
            <a:ext cx="1691640" cy="68580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0.95</a:t>
            </a:r>
            <a:endParaRPr lang="en-US" sz="4000" dirty="0"/>
          </a:p>
        </p:txBody>
      </p:sp>
      <p:sp>
        <p:nvSpPr>
          <p:cNvPr id="13" name="Text 11"/>
          <p:cNvSpPr/>
          <p:nvPr/>
        </p:nvSpPr>
        <p:spPr>
          <a:xfrm>
            <a:off x="8110728" y="2606040"/>
            <a:ext cx="1472184" cy="466344"/>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5% off</a:t>
            </a:r>
            <a:endParaRPr lang="en-US" sz="1150" dirty="0"/>
          </a:p>
        </p:txBody>
      </p:sp>
      <p:sp>
        <p:nvSpPr>
          <p:cNvPr id="14" name="Shape 12"/>
          <p:cNvSpPr/>
          <p:nvPr/>
        </p:nvSpPr>
        <p:spPr>
          <a:xfrm>
            <a:off x="9829800" y="1783080"/>
            <a:ext cx="1691640" cy="1371600"/>
          </a:xfrm>
          <a:prstGeom prst="roundRect">
            <a:avLst>
              <a:gd name="adj" fmla="val 5333"/>
            </a:avLst>
          </a:prstGeom>
          <a:solidFill>
            <a:srgbClr val="F4F6F8"/>
          </a:solidFill>
          <a:ln/>
        </p:spPr>
      </p:sp>
      <p:sp>
        <p:nvSpPr>
          <p:cNvPr id="15" name="Text 13"/>
          <p:cNvSpPr/>
          <p:nvPr/>
        </p:nvSpPr>
        <p:spPr>
          <a:xfrm>
            <a:off x="9829800" y="1929384"/>
            <a:ext cx="1691640" cy="68580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0.50</a:t>
            </a:r>
            <a:endParaRPr lang="en-US" sz="4000" dirty="0"/>
          </a:p>
        </p:txBody>
      </p:sp>
      <p:sp>
        <p:nvSpPr>
          <p:cNvPr id="16" name="Text 14"/>
          <p:cNvSpPr/>
          <p:nvPr/>
        </p:nvSpPr>
        <p:spPr>
          <a:xfrm>
            <a:off x="9939528" y="2606040"/>
            <a:ext cx="1472184" cy="466344"/>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50% off</a:t>
            </a:r>
            <a:endParaRPr lang="en-US" sz="1150" dirty="0"/>
          </a:p>
        </p:txBody>
      </p:sp>
      <p:sp>
        <p:nvSpPr>
          <p:cNvPr id="17" name="Shape 15"/>
          <p:cNvSpPr/>
          <p:nvPr/>
        </p:nvSpPr>
        <p:spPr>
          <a:xfrm>
            <a:off x="6172200" y="3291840"/>
            <a:ext cx="1691640" cy="1371600"/>
          </a:xfrm>
          <a:prstGeom prst="roundRect">
            <a:avLst>
              <a:gd name="adj" fmla="val 5333"/>
            </a:avLst>
          </a:prstGeom>
          <a:solidFill>
            <a:srgbClr val="F4F6F8"/>
          </a:solidFill>
          <a:ln/>
        </p:spPr>
      </p:sp>
      <p:sp>
        <p:nvSpPr>
          <p:cNvPr id="18" name="Text 16"/>
          <p:cNvSpPr/>
          <p:nvPr/>
        </p:nvSpPr>
        <p:spPr>
          <a:xfrm>
            <a:off x="6172200" y="3438144"/>
            <a:ext cx="1691640" cy="68580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0.00</a:t>
            </a:r>
            <a:endParaRPr lang="en-US" sz="4000" dirty="0"/>
          </a:p>
        </p:txBody>
      </p:sp>
      <p:sp>
        <p:nvSpPr>
          <p:cNvPr id="19" name="Text 17"/>
          <p:cNvSpPr/>
          <p:nvPr/>
        </p:nvSpPr>
        <p:spPr>
          <a:xfrm>
            <a:off x="6281928" y="4114800"/>
            <a:ext cx="1472184" cy="466344"/>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blank</a:t>
            </a:r>
            <a:endParaRPr lang="en-US" sz="1150" dirty="0"/>
          </a:p>
        </p:txBody>
      </p:sp>
      <p:sp>
        <p:nvSpPr>
          <p:cNvPr id="20" name="Shape 18"/>
          <p:cNvSpPr/>
          <p:nvPr/>
        </p:nvSpPr>
        <p:spPr>
          <a:xfrm>
            <a:off x="8001000" y="3291840"/>
            <a:ext cx="3520440" cy="1371600"/>
          </a:xfrm>
          <a:prstGeom prst="roundRect">
            <a:avLst>
              <a:gd name="adj" fmla="val 5333"/>
            </a:avLst>
          </a:prstGeom>
          <a:solidFill>
            <a:srgbClr val="F4F6F8"/>
          </a:solidFill>
          <a:ln/>
        </p:spPr>
      </p:sp>
      <p:sp>
        <p:nvSpPr>
          <p:cNvPr id="21" name="Text 19"/>
          <p:cNvSpPr/>
          <p:nvPr/>
        </p:nvSpPr>
        <p:spPr>
          <a:xfrm>
            <a:off x="8001000" y="3438144"/>
            <a:ext cx="3520440" cy="685800"/>
          </a:xfrm>
          <a:prstGeom prst="rect">
            <a:avLst/>
          </a:prstGeom>
          <a:noFill/>
          <a:ln/>
        </p:spPr>
        <p:txBody>
          <a:bodyPr wrap="square" lIns="0" tIns="0" rIns="0" bIns="0" rtlCol="0" anchor="ctr"/>
          <a:lstStyle/>
          <a:p>
            <a:pPr algn="ctr" indent="0" marL="0">
              <a:buNone/>
            </a:pPr>
            <a:r>
              <a:rPr lang="en-US" sz="3000" b="1" dirty="0">
                <a:solidFill>
                  <a:srgbClr val="0F1E2E"/>
                </a:solidFill>
                <a:latin typeface="Cambria" pitchFamily="34" charset="0"/>
                <a:ea typeface="Cambria" pitchFamily="34" charset="-122"/>
                <a:cs typeface="Cambria" pitchFamily="34" charset="-120"/>
              </a:rPr>
              <a:t>₹5,530 Cr</a:t>
            </a:r>
            <a:endParaRPr lang="en-US" sz="3000" dirty="0"/>
          </a:p>
        </p:txBody>
      </p:sp>
      <p:sp>
        <p:nvSpPr>
          <p:cNvPr id="22" name="Text 20"/>
          <p:cNvSpPr/>
          <p:nvPr/>
        </p:nvSpPr>
        <p:spPr>
          <a:xfrm>
            <a:off x="8110728" y="4114800"/>
            <a:ext cx="3300984" cy="466344"/>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total delivered value across 155 works — every rupee of it read out of a document</a:t>
            </a:r>
            <a:endParaRPr lang="en-US" sz="1150" dirty="0"/>
          </a:p>
        </p:txBody>
      </p:sp>
      <p:sp>
        <p:nvSpPr>
          <p:cNvPr id="23" name="Shape 21"/>
          <p:cNvSpPr/>
          <p:nvPr/>
        </p:nvSpPr>
        <p:spPr>
          <a:xfrm>
            <a:off x="6172200" y="4846320"/>
            <a:ext cx="5349240" cy="1097280"/>
          </a:xfrm>
          <a:prstGeom prst="roundRect">
            <a:avLst>
              <a:gd name="adj" fmla="val 6667"/>
            </a:avLst>
          </a:prstGeom>
          <a:solidFill>
            <a:srgbClr val="F2A104"/>
          </a:solidFill>
          <a:ln/>
        </p:spPr>
      </p:sp>
      <p:sp>
        <p:nvSpPr>
          <p:cNvPr id="24" name="Text 22"/>
          <p:cNvSpPr/>
          <p:nvPr/>
        </p:nvSpPr>
        <p:spPr>
          <a:xfrm>
            <a:off x="6309360" y="4956048"/>
            <a:ext cx="5074920" cy="41148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Our rule: the model never performs arithmetic.</a:t>
            </a:r>
            <a:endParaRPr lang="en-US" sz="1500" dirty="0"/>
          </a:p>
        </p:txBody>
      </p:sp>
      <p:sp>
        <p:nvSpPr>
          <p:cNvPr id="25" name="Text 23"/>
          <p:cNvSpPr/>
          <p:nvPr/>
        </p:nvSpPr>
        <p:spPr>
          <a:xfrm>
            <a:off x="6309360" y="5349240"/>
            <a:ext cx="5074920" cy="548640"/>
          </a:xfrm>
          <a:prstGeom prst="rect">
            <a:avLst/>
          </a:prstGeom>
          <a:noFill/>
          <a:ln/>
        </p:spPr>
        <p:txBody>
          <a:bodyPr wrap="square" lIns="0" tIns="0" rIns="0" bIns="0" rtlCol="0" anchor="ctr"/>
          <a:lstStyle/>
          <a:p>
            <a:pPr indent="0" marL="0">
              <a:lnSpc>
                <a:spcPct val="110000"/>
              </a:lnSpc>
              <a:buNone/>
            </a:pPr>
            <a:r>
              <a:rPr lang="en-US" sz="1200" dirty="0">
                <a:solidFill>
                  <a:srgbClr val="6B4E08"/>
                </a:solidFill>
                <a:latin typeface="Calibri" pitchFamily="34" charset="0"/>
                <a:ea typeface="Calibri" pitchFamily="34" charset="-122"/>
                <a:cs typeface="Calibri" pitchFamily="34" charset="-120"/>
              </a:rPr>
              <a:t>It classifies the question and extracts parameters. Python computes every number over exactly-parsed integers.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Rebuild the database, then answer by query</a:t>
            </a:r>
            <a:endParaRPr lang="en-US" sz="3200" dirty="0"/>
          </a:p>
        </p:txBody>
      </p:sp>
      <p:sp>
        <p:nvSpPr>
          <p:cNvPr id="4" name="Shape 2"/>
          <p:cNvSpPr/>
          <p:nvPr/>
        </p:nvSpPr>
        <p:spPr>
          <a:xfrm>
            <a:off x="566928" y="1783080"/>
            <a:ext cx="2286000" cy="1143000"/>
          </a:xfrm>
          <a:prstGeom prst="roundRect">
            <a:avLst>
              <a:gd name="adj" fmla="val 6400"/>
            </a:avLst>
          </a:prstGeom>
          <a:solidFill>
            <a:srgbClr val="F4F6F8"/>
          </a:solidFill>
          <a:ln/>
        </p:spPr>
      </p:sp>
      <p:sp>
        <p:nvSpPr>
          <p:cNvPr id="5" name="Text 3"/>
          <p:cNvSpPr/>
          <p:nvPr/>
        </p:nvSpPr>
        <p:spPr>
          <a:xfrm>
            <a:off x="704088" y="1947672"/>
            <a:ext cx="201168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687 documents</a:t>
            </a:r>
            <a:endParaRPr lang="en-US" sz="1500" dirty="0"/>
          </a:p>
        </p:txBody>
      </p:sp>
      <p:sp>
        <p:nvSpPr>
          <p:cNvPr id="6" name="Text 4"/>
          <p:cNvSpPr/>
          <p:nvPr/>
        </p:nvSpPr>
        <p:spPr>
          <a:xfrm>
            <a:off x="704088" y="2295144"/>
            <a:ext cx="2011680" cy="548640"/>
          </a:xfrm>
          <a:prstGeom prst="rect">
            <a:avLst/>
          </a:prstGeom>
          <a:noFill/>
          <a:ln/>
        </p:spPr>
        <p:txBody>
          <a:bodyPr wrap="square" lIns="0" tIns="0" rIns="0" bIns="0" rtlCol="0" anchor="ctr"/>
          <a:lstStyle/>
          <a:p>
            <a:pPr indent="0" marL="0">
              <a:lnSpc>
                <a:spcPct val="105000"/>
              </a:lnSpc>
              <a:buNone/>
            </a:pPr>
            <a:r>
              <a:rPr lang="en-US" sz="1200" dirty="0">
                <a:solidFill>
                  <a:srgbClr val="5A6B7A"/>
                </a:solidFill>
                <a:latin typeface="Calibri" pitchFamily="34" charset="0"/>
                <a:ea typeface="Calibri" pitchFamily="34" charset="-122"/>
                <a:cs typeface="Calibri" pitchFamily="34" charset="-120"/>
              </a:rPr>
              <a:t>678 PDF + 9 XLSX</a:t>
            </a:r>
            <a:endParaRPr lang="en-US" sz="1200" dirty="0"/>
          </a:p>
        </p:txBody>
      </p:sp>
      <p:sp>
        <p:nvSpPr>
          <p:cNvPr id="7" name="Shape 5"/>
          <p:cNvSpPr/>
          <p:nvPr/>
        </p:nvSpPr>
        <p:spPr>
          <a:xfrm>
            <a:off x="3218688" y="1783080"/>
            <a:ext cx="2286000" cy="1143000"/>
          </a:xfrm>
          <a:prstGeom prst="roundRect">
            <a:avLst>
              <a:gd name="adj" fmla="val 6400"/>
            </a:avLst>
          </a:prstGeom>
          <a:solidFill>
            <a:srgbClr val="F4F6F8"/>
          </a:solidFill>
          <a:ln/>
        </p:spPr>
      </p:sp>
      <p:sp>
        <p:nvSpPr>
          <p:cNvPr id="8" name="Text 6"/>
          <p:cNvSpPr/>
          <p:nvPr/>
        </p:nvSpPr>
        <p:spPr>
          <a:xfrm>
            <a:off x="3355848" y="1947672"/>
            <a:ext cx="201168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Parsers</a:t>
            </a:r>
            <a:endParaRPr lang="en-US" sz="1500" dirty="0"/>
          </a:p>
        </p:txBody>
      </p:sp>
      <p:sp>
        <p:nvSpPr>
          <p:cNvPr id="9" name="Text 7"/>
          <p:cNvSpPr/>
          <p:nvPr/>
        </p:nvSpPr>
        <p:spPr>
          <a:xfrm>
            <a:off x="3355848" y="2295144"/>
            <a:ext cx="2011680" cy="548640"/>
          </a:xfrm>
          <a:prstGeom prst="rect">
            <a:avLst/>
          </a:prstGeom>
          <a:noFill/>
          <a:ln/>
        </p:spPr>
        <p:txBody>
          <a:bodyPr wrap="square" lIns="0" tIns="0" rIns="0" bIns="0" rtlCol="0" anchor="ctr"/>
          <a:lstStyle/>
          <a:p>
            <a:pPr indent="0" marL="0">
              <a:lnSpc>
                <a:spcPct val="105000"/>
              </a:lnSpc>
              <a:buNone/>
            </a:pPr>
            <a:r>
              <a:rPr lang="en-US" sz="1200" dirty="0">
                <a:solidFill>
                  <a:srgbClr val="5A6B7A"/>
                </a:solidFill>
                <a:latin typeface="Calibri" pitchFamily="34" charset="0"/>
                <a:ea typeface="Calibri" pitchFamily="34" charset="-122"/>
                <a:cs typeface="Calibri" pitchFamily="34" charset="-120"/>
              </a:rPr>
              <a:t>7 certificate layouts,</a:t>
            </a:r>
            <a:endParaRPr lang="en-US" sz="1200" dirty="0"/>
          </a:p>
          <a:p>
            <a:pPr indent="0" marL="0">
              <a:lnSpc>
                <a:spcPct val="105000"/>
              </a:lnSpc>
              <a:buNone/>
            </a:pPr>
            <a:r>
              <a:rPr lang="en-US" sz="1200" dirty="0">
                <a:solidFill>
                  <a:srgbClr val="5A6B7A"/>
                </a:solidFill>
                <a:latin typeface="Calibri" pitchFamily="34" charset="0"/>
                <a:ea typeface="Calibri" pitchFamily="34" charset="-122"/>
                <a:cs typeface="Calibri" pitchFamily="34" charset="-120"/>
              </a:rPr>
              <a:t>prose fallbacks</a:t>
            </a:r>
            <a:endParaRPr lang="en-US" sz="1200" dirty="0"/>
          </a:p>
        </p:txBody>
      </p:sp>
      <p:sp>
        <p:nvSpPr>
          <p:cNvPr id="10" name="Shape 8"/>
          <p:cNvSpPr/>
          <p:nvPr/>
        </p:nvSpPr>
        <p:spPr>
          <a:xfrm>
            <a:off x="5870448" y="1783080"/>
            <a:ext cx="2286000" cy="1143000"/>
          </a:xfrm>
          <a:prstGeom prst="roundRect">
            <a:avLst>
              <a:gd name="adj" fmla="val 6400"/>
            </a:avLst>
          </a:prstGeom>
          <a:solidFill>
            <a:srgbClr val="F4F6F8"/>
          </a:solidFill>
          <a:ln/>
        </p:spPr>
      </p:sp>
      <p:sp>
        <p:nvSpPr>
          <p:cNvPr id="11" name="Text 9"/>
          <p:cNvSpPr/>
          <p:nvPr/>
        </p:nvSpPr>
        <p:spPr>
          <a:xfrm>
            <a:off x="6007608" y="1947672"/>
            <a:ext cx="201168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work/db.json</a:t>
            </a:r>
            <a:endParaRPr lang="en-US" sz="1500" dirty="0"/>
          </a:p>
        </p:txBody>
      </p:sp>
      <p:sp>
        <p:nvSpPr>
          <p:cNvPr id="12" name="Text 10"/>
          <p:cNvSpPr/>
          <p:nvPr/>
        </p:nvSpPr>
        <p:spPr>
          <a:xfrm>
            <a:off x="6007608" y="2295144"/>
            <a:ext cx="2011680" cy="548640"/>
          </a:xfrm>
          <a:prstGeom prst="rect">
            <a:avLst/>
          </a:prstGeom>
          <a:noFill/>
          <a:ln/>
        </p:spPr>
        <p:txBody>
          <a:bodyPr wrap="square" lIns="0" tIns="0" rIns="0" bIns="0" rtlCol="0" anchor="ctr"/>
          <a:lstStyle/>
          <a:p>
            <a:pPr indent="0" marL="0">
              <a:lnSpc>
                <a:spcPct val="105000"/>
              </a:lnSpc>
              <a:buNone/>
            </a:pPr>
            <a:r>
              <a:rPr lang="en-US" sz="1200" dirty="0">
                <a:solidFill>
                  <a:srgbClr val="5A6B7A"/>
                </a:solidFill>
                <a:latin typeface="Calibri" pitchFamily="34" charset="0"/>
                <a:ea typeface="Calibri" pitchFamily="34" charset="-122"/>
                <a:cs typeface="Calibri" pitchFamily="34" charset="-120"/>
              </a:rPr>
              <a:t>155 works · 28 clients</a:t>
            </a:r>
            <a:endParaRPr lang="en-US" sz="1200" dirty="0"/>
          </a:p>
          <a:p>
            <a:pPr indent="0" marL="0">
              <a:lnSpc>
                <a:spcPct val="105000"/>
              </a:lnSpc>
              <a:buNone/>
            </a:pPr>
            <a:r>
              <a:rPr lang="en-US" sz="1200" dirty="0">
                <a:solidFill>
                  <a:srgbClr val="5A6B7A"/>
                </a:solidFill>
                <a:latin typeface="Calibri" pitchFamily="34" charset="0"/>
                <a:ea typeface="Calibri" pitchFamily="34" charset="-122"/>
                <a:cs typeface="Calibri" pitchFamily="34" charset="-120"/>
              </a:rPr>
              <a:t>39 people</a:t>
            </a:r>
            <a:endParaRPr lang="en-US" sz="1200" dirty="0"/>
          </a:p>
        </p:txBody>
      </p:sp>
      <p:sp>
        <p:nvSpPr>
          <p:cNvPr id="13" name="Text 11"/>
          <p:cNvSpPr/>
          <p:nvPr/>
        </p:nvSpPr>
        <p:spPr>
          <a:xfrm>
            <a:off x="2898648" y="2121408"/>
            <a:ext cx="365760" cy="457200"/>
          </a:xfrm>
          <a:prstGeom prst="rect">
            <a:avLst/>
          </a:prstGeom>
          <a:noFill/>
          <a:ln/>
        </p:spPr>
        <p:txBody>
          <a:bodyPr wrap="square" lIns="0" tIns="0" rIns="0" bIns="0" rtlCol="0" anchor="ctr"/>
          <a:lstStyle/>
          <a:p>
            <a:pPr algn="ctr" indent="0" marL="0">
              <a:buNone/>
            </a:pPr>
            <a:r>
              <a:rPr lang="en-US" sz="2200" b="1" dirty="0">
                <a:solidFill>
                  <a:srgbClr val="F2A104"/>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5550408" y="2121408"/>
            <a:ext cx="365760" cy="457200"/>
          </a:xfrm>
          <a:prstGeom prst="rect">
            <a:avLst/>
          </a:prstGeom>
          <a:noFill/>
          <a:ln/>
        </p:spPr>
        <p:txBody>
          <a:bodyPr wrap="square" lIns="0" tIns="0" rIns="0" bIns="0" rtlCol="0" anchor="ctr"/>
          <a:lstStyle/>
          <a:p>
            <a:pPr algn="ctr" indent="0" marL="0">
              <a:buNone/>
            </a:pPr>
            <a:r>
              <a:rPr lang="en-US" sz="2200" b="1" dirty="0">
                <a:solidFill>
                  <a:srgbClr val="F2A104"/>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66928" y="3246120"/>
            <a:ext cx="4937760" cy="1143000"/>
          </a:xfrm>
          <a:prstGeom prst="roundRect">
            <a:avLst>
              <a:gd name="adj" fmla="val 6400"/>
            </a:avLst>
          </a:prstGeom>
          <a:solidFill>
            <a:srgbClr val="0F1E2E"/>
          </a:solidFill>
          <a:ln/>
        </p:spPr>
      </p:sp>
      <p:sp>
        <p:nvSpPr>
          <p:cNvPr id="16" name="Text 14"/>
          <p:cNvSpPr/>
          <p:nvPr/>
        </p:nvSpPr>
        <p:spPr>
          <a:xfrm>
            <a:off x="704088" y="3410712"/>
            <a:ext cx="46634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 text</a:t>
            </a:r>
            <a:endParaRPr lang="en-US" sz="1500" dirty="0"/>
          </a:p>
        </p:txBody>
      </p:sp>
      <p:sp>
        <p:nvSpPr>
          <p:cNvPr id="17" name="Text 15"/>
          <p:cNvSpPr/>
          <p:nvPr/>
        </p:nvSpPr>
        <p:spPr>
          <a:xfrm>
            <a:off x="704088" y="3749040"/>
            <a:ext cx="4663440" cy="548640"/>
          </a:xfrm>
          <a:prstGeom prst="rect">
            <a:avLst/>
          </a:prstGeom>
          <a:noFill/>
          <a:ln/>
        </p:spPr>
        <p:txBody>
          <a:bodyPr wrap="square" lIns="0" tIns="0" rIns="0" bIns="0" rtlCol="0" anchor="ctr"/>
          <a:lstStyle/>
          <a:p>
            <a:pPr indent="0" marL="0">
              <a:lnSpc>
                <a:spcPct val="105000"/>
              </a:lnSpc>
              <a:buNone/>
            </a:pPr>
            <a:r>
              <a:rPr lang="en-US" sz="1150" i="1" dirty="0">
                <a:solidFill>
                  <a:srgbClr val="B9C7D2"/>
                </a:solidFill>
                <a:latin typeface="Calibri" pitchFamily="34" charset="0"/>
                <a:ea typeface="Calibri" pitchFamily="34" charset="-122"/>
                <a:cs typeface="Calibri" pitchFamily="34" charset="-120"/>
              </a:rPr>
              <a:t>“by how much does our largest completed work exceed the second largest?”</a:t>
            </a:r>
            <a:endParaRPr lang="en-US" sz="1150" dirty="0"/>
          </a:p>
        </p:txBody>
      </p:sp>
      <p:sp>
        <p:nvSpPr>
          <p:cNvPr id="18" name="Shape 16"/>
          <p:cNvSpPr/>
          <p:nvPr/>
        </p:nvSpPr>
        <p:spPr>
          <a:xfrm>
            <a:off x="5870448" y="3246120"/>
            <a:ext cx="2286000" cy="1143000"/>
          </a:xfrm>
          <a:prstGeom prst="roundRect">
            <a:avLst>
              <a:gd name="adj" fmla="val 6400"/>
            </a:avLst>
          </a:prstGeom>
          <a:solidFill>
            <a:srgbClr val="F2A104"/>
          </a:solidFill>
          <a:ln/>
        </p:spPr>
      </p:sp>
      <p:sp>
        <p:nvSpPr>
          <p:cNvPr id="19" name="Text 17"/>
          <p:cNvSpPr/>
          <p:nvPr/>
        </p:nvSpPr>
        <p:spPr>
          <a:xfrm>
            <a:off x="6007608" y="3410712"/>
            <a:ext cx="201168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Classifier</a:t>
            </a:r>
            <a:endParaRPr lang="en-US" sz="1500" dirty="0"/>
          </a:p>
        </p:txBody>
      </p:sp>
      <p:sp>
        <p:nvSpPr>
          <p:cNvPr id="20" name="Text 18"/>
          <p:cNvSpPr/>
          <p:nvPr/>
        </p:nvSpPr>
        <p:spPr>
          <a:xfrm>
            <a:off x="6007608" y="3749040"/>
            <a:ext cx="2011680" cy="548640"/>
          </a:xfrm>
          <a:prstGeom prst="rect">
            <a:avLst/>
          </a:prstGeom>
          <a:noFill/>
          <a:ln/>
        </p:spPr>
        <p:txBody>
          <a:bodyPr wrap="square" lIns="0" tIns="0" rIns="0" bIns="0" rtlCol="0" anchor="ctr"/>
          <a:lstStyle/>
          <a:p>
            <a:pPr indent="0" marL="0">
              <a:lnSpc>
                <a:spcPct val="105000"/>
              </a:lnSpc>
              <a:buNone/>
            </a:pPr>
            <a:r>
              <a:rPr lang="en-US" sz="1150" dirty="0">
                <a:solidFill>
                  <a:srgbClr val="6B4E08"/>
                </a:solidFill>
                <a:latin typeface="Calibri" pitchFamily="34" charset="0"/>
                <a:ea typeface="Calibri" pitchFamily="34" charset="-122"/>
                <a:cs typeface="Calibri" pitchFamily="34" charset="-120"/>
              </a:rPr>
              <a:t>{ shape, parameters }</a:t>
            </a:r>
            <a:endParaRPr lang="en-US" sz="1150" dirty="0"/>
          </a:p>
          <a:p>
            <a:pPr indent="0" marL="0">
              <a:lnSpc>
                <a:spcPct val="105000"/>
              </a:lnSpc>
              <a:buNone/>
            </a:pPr>
            <a:r>
              <a:rPr lang="en-US" sz="1150" dirty="0">
                <a:solidFill>
                  <a:srgbClr val="6B4E08"/>
                </a:solidFill>
                <a:latin typeface="Calibri" pitchFamily="34" charset="0"/>
                <a:ea typeface="Calibri" pitchFamily="34" charset="-122"/>
                <a:cs typeface="Calibri" pitchFamily="34" charset="-120"/>
              </a:rPr>
              <a:t>never a number</a:t>
            </a:r>
            <a:endParaRPr lang="en-US" sz="1150" dirty="0"/>
          </a:p>
        </p:txBody>
      </p:sp>
      <p:sp>
        <p:nvSpPr>
          <p:cNvPr id="21" name="Text 19"/>
          <p:cNvSpPr/>
          <p:nvPr/>
        </p:nvSpPr>
        <p:spPr>
          <a:xfrm>
            <a:off x="5550408" y="3584448"/>
            <a:ext cx="365760" cy="457200"/>
          </a:xfrm>
          <a:prstGeom prst="rect">
            <a:avLst/>
          </a:prstGeom>
          <a:noFill/>
          <a:ln/>
        </p:spPr>
        <p:txBody>
          <a:bodyPr wrap="square" lIns="0" tIns="0" rIns="0" bIns="0" rtlCol="0" anchor="ctr"/>
          <a:lstStyle/>
          <a:p>
            <a:pPr algn="ctr" indent="0" marL="0">
              <a:buNone/>
            </a:pPr>
            <a:r>
              <a:rPr lang="en-US" sz="2200" b="1" dirty="0">
                <a:solidFill>
                  <a:srgbClr val="F2A104"/>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8522208" y="2331720"/>
            <a:ext cx="3063240" cy="2057400"/>
          </a:xfrm>
          <a:prstGeom prst="roundRect">
            <a:avLst>
              <a:gd name="adj" fmla="val 3556"/>
            </a:avLst>
          </a:prstGeom>
          <a:solidFill>
            <a:srgbClr val="2A5C7A"/>
          </a:solidFill>
          <a:ln/>
        </p:spPr>
      </p:sp>
      <p:sp>
        <p:nvSpPr>
          <p:cNvPr id="23" name="Text 21"/>
          <p:cNvSpPr/>
          <p:nvPr/>
        </p:nvSpPr>
        <p:spPr>
          <a:xfrm>
            <a:off x="8659368" y="2514600"/>
            <a:ext cx="27889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Executor</a:t>
            </a:r>
            <a:endParaRPr lang="en-US" sz="1600" dirty="0"/>
          </a:p>
        </p:txBody>
      </p:sp>
      <p:sp>
        <p:nvSpPr>
          <p:cNvPr id="24" name="Text 22"/>
          <p:cNvSpPr/>
          <p:nvPr/>
        </p:nvSpPr>
        <p:spPr>
          <a:xfrm>
            <a:off x="8659368" y="2880360"/>
            <a:ext cx="2788920" cy="777240"/>
          </a:xfrm>
          <a:prstGeom prst="rect">
            <a:avLst/>
          </a:prstGeom>
          <a:noFill/>
          <a:ln/>
        </p:spPr>
        <p:txBody>
          <a:bodyPr wrap="square" lIns="0" tIns="0" rIns="0" bIns="0" rtlCol="0" anchor="ctr"/>
          <a:lstStyle/>
          <a:p>
            <a:pPr indent="0" marL="0">
              <a:lnSpc>
                <a:spcPct val="110000"/>
              </a:lnSpc>
              <a:buNone/>
            </a:pPr>
            <a:r>
              <a:rPr lang="en-US" sz="1200" dirty="0">
                <a:solidFill>
                  <a:srgbClr val="D6E4EC"/>
                </a:solidFill>
                <a:latin typeface="Calibri" pitchFamily="34" charset="0"/>
                <a:ea typeface="Calibri" pitchFamily="34" charset="-122"/>
                <a:cs typeface="Calibri" pitchFamily="34" charset="-120"/>
              </a:rPr>
              <a:t>All arithmetic lives here.</a:t>
            </a:r>
            <a:endParaRPr lang="en-US" sz="1200" dirty="0"/>
          </a:p>
          <a:p>
            <a:pPr indent="0" marL="0">
              <a:lnSpc>
                <a:spcPct val="110000"/>
              </a:lnSpc>
              <a:buNone/>
            </a:pPr>
            <a:r>
              <a:rPr lang="en-US" sz="1200" dirty="0">
                <a:solidFill>
                  <a:srgbClr val="D6E4EC"/>
                </a:solidFill>
                <a:latin typeface="Calibri" pitchFamily="34" charset="0"/>
                <a:ea typeface="Calibri" pitchFamily="34" charset="-122"/>
                <a:cs typeface="Calibri" pitchFamily="34" charset="-120"/>
              </a:rPr>
              <a:t>18 query shapes over exactly-parsed integers.</a:t>
            </a:r>
            <a:endParaRPr lang="en-US" sz="1200" dirty="0"/>
          </a:p>
        </p:txBody>
      </p:sp>
      <p:sp>
        <p:nvSpPr>
          <p:cNvPr id="25" name="Text 23"/>
          <p:cNvSpPr/>
          <p:nvPr/>
        </p:nvSpPr>
        <p:spPr>
          <a:xfrm>
            <a:off x="8659368" y="3749040"/>
            <a:ext cx="2788920" cy="365760"/>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one number</a:t>
            </a:r>
            <a:endParaRPr lang="en-US" sz="1400" dirty="0"/>
          </a:p>
        </p:txBody>
      </p:sp>
      <p:sp>
        <p:nvSpPr>
          <p:cNvPr id="26" name="Text 24"/>
          <p:cNvSpPr/>
          <p:nvPr/>
        </p:nvSpPr>
        <p:spPr>
          <a:xfrm>
            <a:off x="566928" y="5029200"/>
            <a:ext cx="11064240" cy="6400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Both halves are deterministic, offline and instant. Rebuilding the database is a two-minute batch job; answering all 333 questions takes seconds.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DOCUMENT ESTATE</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Four properties of the corpus that decide whether you score at all</a:t>
            </a:r>
            <a:endParaRPr lang="en-US" sz="3200" dirty="0"/>
          </a:p>
        </p:txBody>
      </p:sp>
      <p:sp>
        <p:nvSpPr>
          <p:cNvPr id="4" name="Shape 2"/>
          <p:cNvSpPr/>
          <p:nvPr/>
        </p:nvSpPr>
        <p:spPr>
          <a:xfrm>
            <a:off x="566928" y="1783080"/>
            <a:ext cx="384048" cy="384048"/>
          </a:xfrm>
          <a:prstGeom prst="ellipse">
            <a:avLst/>
          </a:prstGeom>
          <a:solidFill>
            <a:srgbClr val="F2A104"/>
          </a:solidFill>
          <a:ln/>
        </p:spPr>
      </p:sp>
      <p:sp>
        <p:nvSpPr>
          <p:cNvPr id="5" name="Text 3"/>
          <p:cNvSpPr/>
          <p:nvPr/>
        </p:nvSpPr>
        <p:spPr>
          <a:xfrm>
            <a:off x="566928" y="178308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33856" y="1755648"/>
            <a:ext cx="482803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Layout-naive extraction silently loses data</a:t>
            </a:r>
            <a:endParaRPr lang="en-US" sz="1600" dirty="0"/>
          </a:p>
        </p:txBody>
      </p:sp>
      <p:sp>
        <p:nvSpPr>
          <p:cNvPr id="7" name="Text 5"/>
          <p:cNvSpPr/>
          <p:nvPr/>
        </p:nvSpPr>
        <p:spPr>
          <a:xfrm>
            <a:off x="1133856" y="2057400"/>
            <a:ext cx="482803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A common PDF extractor returned the field LABELS and dropped the VALUES on these table-heavy certificates — 15 digits recovered where PyMuPDF found 129, and it reported no error at all.</a:t>
            </a:r>
            <a:endParaRPr lang="en-US" sz="1350" dirty="0"/>
          </a:p>
        </p:txBody>
      </p:sp>
      <p:sp>
        <p:nvSpPr>
          <p:cNvPr id="8" name="Shape 6"/>
          <p:cNvSpPr/>
          <p:nvPr/>
        </p:nvSpPr>
        <p:spPr>
          <a:xfrm>
            <a:off x="566928" y="3246120"/>
            <a:ext cx="384048" cy="384048"/>
          </a:xfrm>
          <a:prstGeom prst="ellipse">
            <a:avLst/>
          </a:prstGeom>
          <a:solidFill>
            <a:srgbClr val="F2A104"/>
          </a:solidFill>
          <a:ln/>
        </p:spPr>
      </p:sp>
      <p:sp>
        <p:nvSpPr>
          <p:cNvPr id="9" name="Text 7"/>
          <p:cNvSpPr/>
          <p:nvPr/>
        </p:nvSpPr>
        <p:spPr>
          <a:xfrm>
            <a:off x="566928" y="324612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33856" y="3218688"/>
            <a:ext cx="482803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Dates are day-first</a:t>
            </a:r>
            <a:endParaRPr lang="en-US" sz="1600" dirty="0"/>
          </a:p>
        </p:txBody>
      </p:sp>
      <p:sp>
        <p:nvSpPr>
          <p:cNvPr id="11" name="Text 9"/>
          <p:cNvSpPr/>
          <p:nvPr/>
        </p:nvSpPr>
        <p:spPr>
          <a:xfrm>
            <a:off x="1133856" y="3520440"/>
            <a:ext cx="482803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06/02/2011 is 6 February. Confirmed against a certificate stating the same date in ISO form. Read as US format it silently corrupts every date span.</a:t>
            </a:r>
            <a:endParaRPr lang="en-US" sz="1350" dirty="0"/>
          </a:p>
        </p:txBody>
      </p:sp>
      <p:sp>
        <p:nvSpPr>
          <p:cNvPr id="12" name="Shape 10"/>
          <p:cNvSpPr/>
          <p:nvPr/>
        </p:nvSpPr>
        <p:spPr>
          <a:xfrm>
            <a:off x="6510528" y="1783080"/>
            <a:ext cx="384048" cy="384048"/>
          </a:xfrm>
          <a:prstGeom prst="ellipse">
            <a:avLst/>
          </a:prstGeom>
          <a:solidFill>
            <a:srgbClr val="F2A104"/>
          </a:solidFill>
          <a:ln/>
        </p:spPr>
      </p:sp>
      <p:sp>
        <p:nvSpPr>
          <p:cNvPr id="13" name="Text 11"/>
          <p:cNvSpPr/>
          <p:nvPr/>
        </p:nvSpPr>
        <p:spPr>
          <a:xfrm>
            <a:off x="6510528" y="178308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7077456" y="1755648"/>
            <a:ext cx="455371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Money is never a plain integer</a:t>
            </a:r>
            <a:endParaRPr lang="en-US" sz="1600" dirty="0"/>
          </a:p>
        </p:txBody>
      </p:sp>
      <p:sp>
        <p:nvSpPr>
          <p:cNvPr id="15" name="Text 13"/>
          <p:cNvSpPr/>
          <p:nvPr/>
        </p:nvSpPr>
        <p:spPr>
          <a:xfrm>
            <a:off x="7077456" y="2057400"/>
            <a:ext cx="455371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INR 33.38 Cr, 3,338.00 Lakh and 33,38,00,000 all denote the same value. Indian digit grouping throughout.</a:t>
            </a:r>
            <a:endParaRPr lang="en-US" sz="1350" dirty="0"/>
          </a:p>
        </p:txBody>
      </p:sp>
      <p:sp>
        <p:nvSpPr>
          <p:cNvPr id="16" name="Shape 14"/>
          <p:cNvSpPr/>
          <p:nvPr/>
        </p:nvSpPr>
        <p:spPr>
          <a:xfrm>
            <a:off x="6510528" y="3246120"/>
            <a:ext cx="384048" cy="384048"/>
          </a:xfrm>
          <a:prstGeom prst="ellipse">
            <a:avLst/>
          </a:prstGeom>
          <a:solidFill>
            <a:srgbClr val="F2A104"/>
          </a:solidFill>
          <a:ln/>
        </p:spPr>
      </p:sp>
      <p:sp>
        <p:nvSpPr>
          <p:cNvPr id="17" name="Text 15"/>
          <p:cNvSpPr/>
          <p:nvPr/>
        </p:nvSpPr>
        <p:spPr>
          <a:xfrm>
            <a:off x="6510528" y="324612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7077456" y="3218688"/>
            <a:ext cx="455371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Client names collide by design</a:t>
            </a:r>
            <a:endParaRPr lang="en-US" sz="1600" dirty="0"/>
          </a:p>
        </p:txBody>
      </p:sp>
      <p:sp>
        <p:nvSpPr>
          <p:cNvPr id="19" name="Text 17"/>
          <p:cNvSpPr/>
          <p:nvPr/>
        </p:nvSpPr>
        <p:spPr>
          <a:xfrm>
            <a:off x="7077456" y="3520440"/>
            <a:ext cx="455371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12 of the 28 clients differ from a sibling only by state name — three Jal Nigam, four Public Works Department. The state is the only discriminator.</a:t>
            </a:r>
            <a:endParaRPr lang="en-US" sz="1350" dirty="0"/>
          </a:p>
        </p:txBody>
      </p:sp>
      <p:sp>
        <p:nvSpPr>
          <p:cNvPr id="20" name="Shape 18"/>
          <p:cNvSpPr/>
          <p:nvPr/>
        </p:nvSpPr>
        <p:spPr>
          <a:xfrm>
            <a:off x="566928" y="4892040"/>
            <a:ext cx="11064240" cy="1143000"/>
          </a:xfrm>
          <a:prstGeom prst="roundRect">
            <a:avLst>
              <a:gd name="adj" fmla="val 6400"/>
            </a:avLst>
          </a:prstGeom>
          <a:solidFill>
            <a:srgbClr val="0F1E2E"/>
          </a:solidFill>
          <a:ln/>
        </p:spPr>
      </p:sp>
      <p:sp>
        <p:nvSpPr>
          <p:cNvPr id="21" name="Text 19"/>
          <p:cNvSpPr/>
          <p:nvPr/>
        </p:nvSpPr>
        <p:spPr>
          <a:xfrm>
            <a:off x="795528" y="5047488"/>
            <a:ext cx="10607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Every one of these fails SILENTLY. None throws an error; each just yields a confident wrong number.</a:t>
            </a:r>
            <a:endParaRPr lang="en-US" sz="1500" dirty="0"/>
          </a:p>
        </p:txBody>
      </p:sp>
      <p:sp>
        <p:nvSpPr>
          <p:cNvPr id="22" name="Text 20"/>
          <p:cNvSpPr/>
          <p:nvPr/>
        </p:nvSpPr>
        <p:spPr>
          <a:xfrm>
            <a:off x="795528" y="5440680"/>
            <a:ext cx="10607040" cy="457200"/>
          </a:xfrm>
          <a:prstGeom prst="rect">
            <a:avLst/>
          </a:prstGeom>
          <a:noFill/>
          <a:ln/>
        </p:spPr>
        <p:txBody>
          <a:bodyPr wrap="square" lIns="0" tIns="0" rIns="0" bIns="0" rtlCol="0" anchor="ctr"/>
          <a:lstStyle/>
          <a:p>
            <a:pPr indent="0" marL="0">
              <a:buNone/>
            </a:pPr>
            <a:r>
              <a:rPr lang="en-US" sz="1300" dirty="0">
                <a:solidFill>
                  <a:srgbClr val="B9C7D2"/>
                </a:solidFill>
                <a:latin typeface="Calibri" pitchFamily="34" charset="0"/>
                <a:ea typeface="Calibri" pitchFamily="34" charset="-122"/>
                <a:cs typeface="Calibri" pitchFamily="34" charset="-120"/>
              </a:rPr>
              <a:t>That is the through-line of this project: on this task the dangerous failures are the quiet ones, and almost all of our engineering effort went into making them loud.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VERIFICATION, PART ONE</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Trusting the database before trusting any answer</a:t>
            </a:r>
            <a:endParaRPr lang="en-US" sz="3200" dirty="0"/>
          </a:p>
        </p:txBody>
      </p:sp>
      <p:sp>
        <p:nvSpPr>
          <p:cNvPr id="4" name="Shape 2"/>
          <p:cNvSpPr/>
          <p:nvPr/>
        </p:nvSpPr>
        <p:spPr>
          <a:xfrm>
            <a:off x="566928" y="1783080"/>
            <a:ext cx="2514600" cy="1325880"/>
          </a:xfrm>
          <a:prstGeom prst="roundRect">
            <a:avLst>
              <a:gd name="adj" fmla="val 5517"/>
            </a:avLst>
          </a:prstGeom>
          <a:solidFill>
            <a:srgbClr val="F4F6F8"/>
          </a:solidFill>
          <a:ln/>
        </p:spPr>
      </p:sp>
      <p:sp>
        <p:nvSpPr>
          <p:cNvPr id="5" name="Text 3"/>
          <p:cNvSpPr/>
          <p:nvPr/>
        </p:nvSpPr>
        <p:spPr>
          <a:xfrm>
            <a:off x="566928" y="1929384"/>
            <a:ext cx="2514600" cy="66294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155</a:t>
            </a:r>
            <a:endParaRPr lang="en-US" sz="4000" dirty="0"/>
          </a:p>
        </p:txBody>
      </p:sp>
      <p:sp>
        <p:nvSpPr>
          <p:cNvPr id="6" name="Text 4"/>
          <p:cNvSpPr/>
          <p:nvPr/>
        </p:nvSpPr>
        <p:spPr>
          <a:xfrm>
            <a:off x="676656" y="2578608"/>
            <a:ext cx="2295144" cy="450799"/>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completed works, 2010–2025</a:t>
            </a:r>
            <a:endParaRPr lang="en-US" sz="1150" dirty="0"/>
          </a:p>
        </p:txBody>
      </p:sp>
      <p:sp>
        <p:nvSpPr>
          <p:cNvPr id="7" name="Shape 5"/>
          <p:cNvSpPr/>
          <p:nvPr/>
        </p:nvSpPr>
        <p:spPr>
          <a:xfrm>
            <a:off x="3355848" y="1783080"/>
            <a:ext cx="2514600" cy="1325880"/>
          </a:xfrm>
          <a:prstGeom prst="roundRect">
            <a:avLst>
              <a:gd name="adj" fmla="val 5517"/>
            </a:avLst>
          </a:prstGeom>
          <a:solidFill>
            <a:srgbClr val="F4F6F8"/>
          </a:solidFill>
          <a:ln/>
        </p:spPr>
      </p:sp>
      <p:sp>
        <p:nvSpPr>
          <p:cNvPr id="8" name="Text 6"/>
          <p:cNvSpPr/>
          <p:nvPr/>
        </p:nvSpPr>
        <p:spPr>
          <a:xfrm>
            <a:off x="3355848" y="1929384"/>
            <a:ext cx="2514600" cy="66294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28</a:t>
            </a:r>
            <a:endParaRPr lang="en-US" sz="4000" dirty="0"/>
          </a:p>
        </p:txBody>
      </p:sp>
      <p:sp>
        <p:nvSpPr>
          <p:cNvPr id="9" name="Text 7"/>
          <p:cNvSpPr/>
          <p:nvPr/>
        </p:nvSpPr>
        <p:spPr>
          <a:xfrm>
            <a:off x="3465576" y="2578608"/>
            <a:ext cx="2295144" cy="450799"/>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clients resolved from 51 raw name strings</a:t>
            </a:r>
            <a:endParaRPr lang="en-US" sz="1150" dirty="0"/>
          </a:p>
        </p:txBody>
      </p:sp>
      <p:sp>
        <p:nvSpPr>
          <p:cNvPr id="10" name="Shape 8"/>
          <p:cNvSpPr/>
          <p:nvPr/>
        </p:nvSpPr>
        <p:spPr>
          <a:xfrm>
            <a:off x="6144768" y="1783080"/>
            <a:ext cx="2514600" cy="1325880"/>
          </a:xfrm>
          <a:prstGeom prst="roundRect">
            <a:avLst>
              <a:gd name="adj" fmla="val 5517"/>
            </a:avLst>
          </a:prstGeom>
          <a:solidFill>
            <a:srgbClr val="F4F6F8"/>
          </a:solidFill>
          <a:ln/>
        </p:spPr>
      </p:sp>
      <p:sp>
        <p:nvSpPr>
          <p:cNvPr id="11" name="Text 9"/>
          <p:cNvSpPr/>
          <p:nvPr/>
        </p:nvSpPr>
        <p:spPr>
          <a:xfrm>
            <a:off x="6144768" y="1929384"/>
            <a:ext cx="2514600" cy="66294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39</a:t>
            </a:r>
            <a:endParaRPr lang="en-US" sz="4000" dirty="0"/>
          </a:p>
        </p:txBody>
      </p:sp>
      <p:sp>
        <p:nvSpPr>
          <p:cNvPr id="12" name="Text 10"/>
          <p:cNvSpPr/>
          <p:nvPr/>
        </p:nvSpPr>
        <p:spPr>
          <a:xfrm>
            <a:off x="6254496" y="2578608"/>
            <a:ext cx="2295144" cy="450799"/>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engineers, with the works each one led</a:t>
            </a:r>
            <a:endParaRPr lang="en-US" sz="1150" dirty="0"/>
          </a:p>
        </p:txBody>
      </p:sp>
      <p:sp>
        <p:nvSpPr>
          <p:cNvPr id="13" name="Shape 11"/>
          <p:cNvSpPr/>
          <p:nvPr/>
        </p:nvSpPr>
        <p:spPr>
          <a:xfrm>
            <a:off x="8933688" y="1783080"/>
            <a:ext cx="2514600" cy="1325880"/>
          </a:xfrm>
          <a:prstGeom prst="roundRect">
            <a:avLst>
              <a:gd name="adj" fmla="val 5517"/>
            </a:avLst>
          </a:prstGeom>
          <a:solidFill>
            <a:srgbClr val="F4F6F8"/>
          </a:solidFill>
          <a:ln/>
        </p:spPr>
      </p:sp>
      <p:sp>
        <p:nvSpPr>
          <p:cNvPr id="14" name="Text 12"/>
          <p:cNvSpPr/>
          <p:nvPr/>
        </p:nvSpPr>
        <p:spPr>
          <a:xfrm>
            <a:off x="8933688" y="1929384"/>
            <a:ext cx="2514600" cy="662940"/>
          </a:xfrm>
          <a:prstGeom prst="rect">
            <a:avLst/>
          </a:prstGeom>
          <a:noFill/>
          <a:ln/>
        </p:spPr>
        <p:txBody>
          <a:bodyPr wrap="square" lIns="0" tIns="0" rIns="0" bIns="0" rtlCol="0" anchor="ctr"/>
          <a:lstStyle/>
          <a:p>
            <a:pPr algn="ctr" indent="0" marL="0">
              <a:buNone/>
            </a:pPr>
            <a:r>
              <a:rPr lang="en-US" sz="4000" b="1" dirty="0">
                <a:solidFill>
                  <a:srgbClr val="0F1E2E"/>
                </a:solidFill>
                <a:latin typeface="Cambria" pitchFamily="34" charset="0"/>
                <a:ea typeface="Cambria" pitchFamily="34" charset="-122"/>
                <a:cs typeface="Cambria" pitchFamily="34" charset="-120"/>
              </a:rPr>
              <a:t>519</a:t>
            </a:r>
            <a:endParaRPr lang="en-US" sz="4000" dirty="0"/>
          </a:p>
        </p:txBody>
      </p:sp>
      <p:sp>
        <p:nvSpPr>
          <p:cNvPr id="15" name="Text 13"/>
          <p:cNvSpPr/>
          <p:nvPr/>
        </p:nvSpPr>
        <p:spPr>
          <a:xfrm>
            <a:off x="9043416" y="2578608"/>
            <a:ext cx="2295144" cy="450799"/>
          </a:xfrm>
          <a:prstGeom prst="rect">
            <a:avLst/>
          </a:prstGeom>
          <a:noFill/>
          <a:ln/>
        </p:spPr>
        <p:txBody>
          <a:bodyPr wrap="square" lIns="0" tIns="0" rIns="0" bIns="0" rtlCol="0" anchor="ctr"/>
          <a:lstStyle/>
          <a:p>
            <a:pPr algn="ctr" indent="0" marL="0">
              <a:lnSpc>
                <a:spcPct val="105000"/>
              </a:lnSpc>
              <a:buNone/>
            </a:pPr>
            <a:r>
              <a:rPr lang="en-US" sz="1150" dirty="0">
                <a:solidFill>
                  <a:srgbClr val="5A6B7A"/>
                </a:solidFill>
                <a:latin typeface="Calibri" pitchFamily="34" charset="0"/>
                <a:ea typeface="Calibri" pitchFamily="34" charset="-122"/>
                <a:cs typeface="Calibri" pitchFamily="34" charset="-120"/>
              </a:rPr>
              <a:t>invoices → receivables per client</a:t>
            </a:r>
            <a:endParaRPr lang="en-US" sz="1150" dirty="0"/>
          </a:p>
        </p:txBody>
      </p:sp>
      <p:sp>
        <p:nvSpPr>
          <p:cNvPr id="16" name="Shape 14"/>
          <p:cNvSpPr/>
          <p:nvPr/>
        </p:nvSpPr>
        <p:spPr>
          <a:xfrm>
            <a:off x="566928" y="3383280"/>
            <a:ext cx="5486400" cy="2423160"/>
          </a:xfrm>
          <a:prstGeom prst="roundRect">
            <a:avLst>
              <a:gd name="adj" fmla="val 3019"/>
            </a:avLst>
          </a:prstGeom>
          <a:solidFill>
            <a:srgbClr val="F4F6F8"/>
          </a:solidFill>
          <a:ln/>
        </p:spPr>
      </p:sp>
      <p:sp>
        <p:nvSpPr>
          <p:cNvPr id="17" name="Text 15"/>
          <p:cNvSpPr/>
          <p:nvPr/>
        </p:nvSpPr>
        <p:spPr>
          <a:xfrm>
            <a:off x="795528" y="3566160"/>
            <a:ext cx="5029200" cy="320040"/>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Independent re-extraction</a:t>
            </a:r>
            <a:endParaRPr lang="en-US" sz="1600" dirty="0"/>
          </a:p>
        </p:txBody>
      </p:sp>
      <p:sp>
        <p:nvSpPr>
          <p:cNvPr id="18" name="Text 16"/>
          <p:cNvSpPr/>
          <p:nvPr/>
        </p:nvSpPr>
        <p:spPr>
          <a:xfrm>
            <a:off x="795528" y="3931920"/>
            <a:ext cx="5029200" cy="914400"/>
          </a:xfrm>
          <a:prstGeom prst="rect">
            <a:avLst/>
          </a:prstGeom>
          <a:noFill/>
          <a:ln/>
        </p:spPr>
        <p:txBody>
          <a:bodyPr wrap="square" lIns="0" tIns="0" rIns="0" bIns="0" rtlCol="0" anchor="ctr"/>
          <a:lstStyle/>
          <a:p>
            <a:pPr indent="0" marL="0">
              <a:lnSpc>
                <a:spcPct val="115000"/>
              </a:lnSpc>
              <a:buNone/>
            </a:pPr>
            <a:r>
              <a:rPr lang="en-US" sz="1300" dirty="0">
                <a:solidFill>
                  <a:srgbClr val="5A6B7A"/>
                </a:solidFill>
                <a:latin typeface="Calibri" pitchFamily="34" charset="0"/>
                <a:ea typeface="Calibri" pitchFamily="34" charset="-122"/>
                <a:cs typeface="Calibri" pitchFamily="34" charset="-120"/>
              </a:rPr>
              <a:t>The same 155 works were extracted a second time by a different document route — the consolidated portfolio plus the client certificates, rather than the company certificates — with no shared parser.</a:t>
            </a:r>
            <a:endParaRPr lang="en-US" sz="1300" dirty="0"/>
          </a:p>
        </p:txBody>
      </p:sp>
      <p:sp>
        <p:nvSpPr>
          <p:cNvPr id="19" name="Text 17"/>
          <p:cNvSpPr/>
          <p:nvPr/>
        </p:nvSpPr>
        <p:spPr>
          <a:xfrm>
            <a:off x="795528" y="4892040"/>
            <a:ext cx="5029200" cy="731520"/>
          </a:xfrm>
          <a:prstGeom prst="rect">
            <a:avLst/>
          </a:prstGeom>
          <a:noFill/>
          <a:ln/>
        </p:spPr>
        <p:txBody>
          <a:bodyPr wrap="square" lIns="0" tIns="0" rIns="0" bIns="0" rtlCol="0" anchor="ctr"/>
          <a:lstStyle/>
          <a:p>
            <a:pPr indent="0" marL="0">
              <a:lnSpc>
                <a:spcPct val="115000"/>
              </a:lnSpc>
              <a:buNone/>
            </a:pPr>
            <a:r>
              <a:rPr lang="en-US" sz="1500" b="1" dirty="0">
                <a:solidFill>
                  <a:srgbClr val="3E8E5A"/>
                </a:solidFill>
                <a:latin typeface="Calibri" pitchFamily="34" charset="0"/>
                <a:ea typeface="Calibri" pitchFamily="34" charset="-122"/>
                <a:cs typeface="Calibri" pitchFamily="34" charset="-120"/>
              </a:rPr>
              <a:t>155 / 155 agree on client, category, value and completion date.</a:t>
            </a:r>
            <a:endParaRPr lang="en-US" sz="1500" dirty="0"/>
          </a:p>
          <a:p>
            <a:pPr indent="0" marL="0">
              <a:lnSpc>
                <a:spcPct val="115000"/>
              </a:lnSpc>
              <a:buNone/>
            </a:pPr>
            <a:r>
              <a:rPr lang="en-US" sz="1500" b="1" dirty="0">
                <a:solidFill>
                  <a:srgbClr val="3E8E5A"/>
                </a:solidFill>
                <a:latin typeface="Calibri" pitchFamily="34" charset="0"/>
                <a:ea typeface="Calibri" pitchFamily="34" charset="-122"/>
                <a:cs typeface="Calibri" pitchFamily="34" charset="-120"/>
              </a:rPr>
              <a:t>Zero conflicts.</a:t>
            </a:r>
            <a:endParaRPr lang="en-US" sz="1500" dirty="0"/>
          </a:p>
        </p:txBody>
      </p:sp>
      <p:sp>
        <p:nvSpPr>
          <p:cNvPr id="20" name="Shape 18"/>
          <p:cNvSpPr/>
          <p:nvPr/>
        </p:nvSpPr>
        <p:spPr>
          <a:xfrm>
            <a:off x="6419088" y="3383280"/>
            <a:ext cx="5212080" cy="2423160"/>
          </a:xfrm>
          <a:prstGeom prst="roundRect">
            <a:avLst>
              <a:gd name="adj" fmla="val 3019"/>
            </a:avLst>
          </a:prstGeom>
          <a:solidFill>
            <a:srgbClr val="0F1E2E"/>
          </a:solidFill>
          <a:ln/>
        </p:spPr>
      </p:sp>
      <p:sp>
        <p:nvSpPr>
          <p:cNvPr id="21" name="Text 19"/>
          <p:cNvSpPr/>
          <p:nvPr/>
        </p:nvSpPr>
        <p:spPr>
          <a:xfrm>
            <a:off x="6647688" y="3566160"/>
            <a:ext cx="47548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this mattered later</a:t>
            </a:r>
            <a:endParaRPr lang="en-US" sz="1600" dirty="0"/>
          </a:p>
        </p:txBody>
      </p:sp>
      <p:sp>
        <p:nvSpPr>
          <p:cNvPr id="22" name="Text 20"/>
          <p:cNvSpPr/>
          <p:nvPr/>
        </p:nvSpPr>
        <p:spPr>
          <a:xfrm>
            <a:off x="6647688" y="3931920"/>
            <a:ext cx="4754880" cy="1097280"/>
          </a:xfrm>
          <a:prstGeom prst="rect">
            <a:avLst/>
          </a:prstGeom>
          <a:noFill/>
          <a:ln/>
        </p:spPr>
        <p:txBody>
          <a:bodyPr wrap="square" lIns="0" tIns="0" rIns="0" bIns="0" rtlCol="0" anchor="ctr"/>
          <a:lstStyle/>
          <a:p>
            <a:pPr indent="0" marL="0">
              <a:lnSpc>
                <a:spcPct val="115000"/>
              </a:lnSpc>
              <a:buNone/>
            </a:pPr>
            <a:r>
              <a:rPr lang="en-US" sz="1300" dirty="0">
                <a:solidFill>
                  <a:srgbClr val="B9C7D2"/>
                </a:solidFill>
                <a:latin typeface="Calibri" pitchFamily="34" charset="0"/>
                <a:ea typeface="Calibri" pitchFamily="34" charset="-122"/>
                <a:cs typeface="Calibri" pitchFamily="34" charset="-120"/>
              </a:rPr>
              <a:t>Once the data layer is corroborated, every remaining error must be in the question→query step. That single deduction is what let us stop re-checking extraction and spend the endgame where the errors actually were.</a:t>
            </a:r>
            <a:endParaRPr lang="en-US" sz="1300" dirty="0"/>
          </a:p>
        </p:txBody>
      </p:sp>
      <p:sp>
        <p:nvSpPr>
          <p:cNvPr id="23" name="Text 21"/>
          <p:cNvSpPr/>
          <p:nvPr/>
        </p:nvSpPr>
        <p:spPr>
          <a:xfrm>
            <a:off x="6647688" y="5029200"/>
            <a:ext cx="4754880" cy="640080"/>
          </a:xfrm>
          <a:prstGeom prst="rect">
            <a:avLst/>
          </a:prstGeom>
          <a:noFill/>
          <a:ln/>
        </p:spPr>
        <p:txBody>
          <a:bodyPr wrap="square" lIns="0" tIns="0" rIns="0" bIns="0" rtlCol="0" anchor="ctr"/>
          <a:lstStyle/>
          <a:p>
            <a:pPr indent="0" marL="0">
              <a:lnSpc>
                <a:spcPct val="115000"/>
              </a:lnSpc>
              <a:buNone/>
            </a:pPr>
            <a:r>
              <a:rPr lang="en-US" sz="1500" b="1" dirty="0">
                <a:solidFill>
                  <a:srgbClr val="F2A104"/>
                </a:solidFill>
                <a:latin typeface="Calibri" pitchFamily="34" charset="0"/>
                <a:ea typeface="Calibri" pitchFamily="34" charset="-122"/>
                <a:cs typeface="Calibri" pitchFamily="34" charset="-120"/>
              </a:rPr>
              <a:t>Bottleneck: question → query.</a:t>
            </a:r>
            <a:endParaRPr lang="en-US" sz="1500" dirty="0"/>
          </a:p>
          <a:p>
            <a:pPr indent="0" marL="0">
              <a:lnSpc>
                <a:spcPct val="115000"/>
              </a:lnSpc>
              <a:buNone/>
            </a:pPr>
            <a:r>
              <a:rPr lang="en-US" sz="1500" b="1" dirty="0">
                <a:solidFill>
                  <a:srgbClr val="F2A104"/>
                </a:solidFill>
                <a:latin typeface="Calibri" pitchFamily="34" charset="0"/>
                <a:ea typeface="Calibri" pitchFamily="34" charset="-122"/>
                <a:cs typeface="Calibri" pitchFamily="34" charset="-120"/>
              </a:rPr>
              <a:t>Not documents → data.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TURNING POINT</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The bottleneck was never the documents</a:t>
            </a:r>
            <a:endParaRPr lang="en-US" sz="3200" dirty="0"/>
          </a:p>
        </p:txBody>
      </p:sp>
      <p:sp>
        <p:nvSpPr>
          <p:cNvPr id="4" name="Text 2"/>
          <p:cNvSpPr/>
          <p:nvPr/>
        </p:nvSpPr>
        <p:spPr>
          <a:xfrm>
            <a:off x="566928" y="1783080"/>
            <a:ext cx="5577840" cy="914400"/>
          </a:xfrm>
          <a:prstGeom prst="rect">
            <a:avLst/>
          </a:prstGeom>
          <a:noFill/>
          <a:ln/>
        </p:spPr>
        <p:txBody>
          <a:bodyPr wrap="square" lIns="0" tIns="0" rIns="0" bIns="0" rtlCol="0" anchor="ctr"/>
          <a:lstStyle/>
          <a:p>
            <a:pPr indent="0" marL="0">
              <a:lnSpc>
                <a:spcPct val="120000"/>
              </a:lnSpc>
              <a:buNone/>
            </a:pPr>
            <a:r>
              <a:rPr lang="en-US" sz="1500" dirty="0">
                <a:solidFill>
                  <a:srgbClr val="0F1E2E"/>
                </a:solidFill>
                <a:latin typeface="Calibri" pitchFamily="34" charset="0"/>
                <a:ea typeface="Calibri" pitchFamily="34" charset="-122"/>
                <a:cs typeface="Calibri" pitchFamily="34" charset="-120"/>
              </a:rPr>
              <a:t>We first routed questions with an ordered ladder of lexical rules. Each rule was added because it measurably helped. The list still failed — and failed invisibly.</a:t>
            </a:r>
            <a:endParaRPr lang="en-US" sz="1500" dirty="0"/>
          </a:p>
        </p:txBody>
      </p:sp>
      <p:sp>
        <p:nvSpPr>
          <p:cNvPr id="5" name="Text 3"/>
          <p:cNvSpPr/>
          <p:nvPr/>
        </p:nvSpPr>
        <p:spPr>
          <a:xfrm>
            <a:off x="566928" y="2834640"/>
            <a:ext cx="5577840" cy="17373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00" dirty="0">
                <a:solidFill>
                  <a:srgbClr val="5A6B7A"/>
                </a:solidFill>
                <a:latin typeface="Calibri" pitchFamily="34" charset="0"/>
                <a:ea typeface="Calibri" pitchFamily="34" charset="-122"/>
                <a:cs typeface="Calibri" pitchFamily="34" charset="-120"/>
              </a:rPr>
              <a:t>First-match-wins: every new rule silently steals questions from an older one</a:t>
            </a:r>
            <a:endParaRPr lang="en-US" sz="1400" dirty="0"/>
          </a:p>
          <a:p>
            <a:pPr marL="342900" indent="-342900">
              <a:lnSpc>
                <a:spcPct val="115000"/>
              </a:lnSpc>
              <a:spcAft>
                <a:spcPts val="1000"/>
              </a:spcAft>
              <a:buSzPct val="100000"/>
              <a:buChar char="•"/>
            </a:pPr>
            <a:r>
              <a:rPr lang="en-US" sz="1400" dirty="0">
                <a:solidFill>
                  <a:srgbClr val="5A6B7A"/>
                </a:solidFill>
                <a:latin typeface="Calibri" pitchFamily="34" charset="0"/>
                <a:ea typeface="Calibri" pitchFamily="34" charset="-122"/>
                <a:cs typeface="Calibri" pitchFamily="34" charset="-120"/>
              </a:rPr>
              <a:t>60 of 333 questions fell through to a generic “sum the client's portfolio” fallback</a:t>
            </a:r>
            <a:endParaRPr lang="en-US" sz="1400" dirty="0"/>
          </a:p>
          <a:p>
            <a:pPr marL="342900" indent="-342900">
              <a:lnSpc>
                <a:spcPct val="115000"/>
              </a:lnSpc>
              <a:spcAft>
                <a:spcPts val="1000"/>
              </a:spcAft>
              <a:buSzPct val="100000"/>
              <a:buChar char="•"/>
            </a:pPr>
            <a:r>
              <a:rPr lang="en-US" sz="1400" dirty="0">
                <a:solidFill>
                  <a:srgbClr val="5A6B7A"/>
                </a:solidFill>
                <a:latin typeface="Calibri" pitchFamily="34" charset="0"/>
                <a:ea typeface="Calibri" pitchFamily="34" charset="-122"/>
                <a:cs typeface="Calibri" pitchFamily="34" charset="-120"/>
              </a:rPr>
              <a:t>Reading those 60 by hand: almost none of them were portfolio totals</a:t>
            </a:r>
            <a:endParaRPr lang="en-US" sz="1400" dirty="0"/>
          </a:p>
        </p:txBody>
      </p:sp>
      <p:sp>
        <p:nvSpPr>
          <p:cNvPr id="6" name="Shape 4"/>
          <p:cNvSpPr/>
          <p:nvPr/>
        </p:nvSpPr>
        <p:spPr>
          <a:xfrm>
            <a:off x="566928" y="4709160"/>
            <a:ext cx="5577840" cy="1234440"/>
          </a:xfrm>
          <a:prstGeom prst="roundRect">
            <a:avLst>
              <a:gd name="adj" fmla="val 5926"/>
            </a:avLst>
          </a:prstGeom>
          <a:solidFill>
            <a:srgbClr val="F2A104"/>
          </a:solidFill>
          <a:ln/>
        </p:spPr>
      </p:sp>
      <p:sp>
        <p:nvSpPr>
          <p:cNvPr id="7" name="Text 5"/>
          <p:cNvSpPr/>
          <p:nvPr/>
        </p:nvSpPr>
        <p:spPr>
          <a:xfrm>
            <a:off x="768096" y="4892040"/>
            <a:ext cx="5175504" cy="822960"/>
          </a:xfrm>
          <a:prstGeom prst="rect">
            <a:avLst/>
          </a:prstGeom>
          <a:noFill/>
          <a:ln/>
        </p:spPr>
        <p:txBody>
          <a:bodyPr wrap="square" lIns="0" tIns="0" rIns="0" bIns="0" rtlCol="0" anchor="ctr"/>
          <a:lstStyle/>
          <a:p>
            <a:pPr indent="0" marL="0">
              <a:lnSpc>
                <a:spcPct val="115000"/>
              </a:lnSpc>
              <a:buNone/>
            </a:pPr>
            <a:r>
              <a:rPr lang="en-US" sz="1450" b="1" dirty="0">
                <a:solidFill>
                  <a:srgbClr val="0F1E2E"/>
                </a:solidFill>
                <a:latin typeface="Calibri" pitchFamily="34" charset="0"/>
                <a:ea typeface="Calibri" pitchFamily="34" charset="-122"/>
                <a:cs typeface="Calibri" pitchFamily="34" charset="-120"/>
              </a:rPr>
              <a:t>The tests asserted the same guesses the router made, so they all passed.</a:t>
            </a:r>
            <a:endParaRPr lang="en-US" sz="1450" dirty="0"/>
          </a:p>
        </p:txBody>
      </p:sp>
      <p:sp>
        <p:nvSpPr>
          <p:cNvPr id="8" name="Text 6"/>
          <p:cNvSpPr/>
          <p:nvPr/>
        </p:nvSpPr>
        <p:spPr>
          <a:xfrm>
            <a:off x="6601968" y="1783080"/>
            <a:ext cx="5029200" cy="320040"/>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What those 60 questions actually were</a:t>
            </a:r>
            <a:endParaRPr lang="en-US" sz="1600" dirty="0"/>
          </a:p>
        </p:txBody>
      </p:sp>
      <p:sp>
        <p:nvSpPr>
          <p:cNvPr id="9" name="Shape 7"/>
          <p:cNvSpPr/>
          <p:nvPr/>
        </p:nvSpPr>
        <p:spPr>
          <a:xfrm>
            <a:off x="6601968" y="2240280"/>
            <a:ext cx="658368" cy="384048"/>
          </a:xfrm>
          <a:prstGeom prst="rect">
            <a:avLst/>
          </a:prstGeom>
          <a:solidFill>
            <a:srgbClr val="0F1E2E"/>
          </a:solidFill>
          <a:ln/>
        </p:spPr>
      </p:sp>
      <p:sp>
        <p:nvSpPr>
          <p:cNvPr id="10" name="Text 8"/>
          <p:cNvSpPr/>
          <p:nvPr/>
        </p:nvSpPr>
        <p:spPr>
          <a:xfrm>
            <a:off x="6601968" y="224028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~30</a:t>
            </a:r>
            <a:endParaRPr lang="en-US" sz="1300" dirty="0"/>
          </a:p>
        </p:txBody>
      </p:sp>
      <p:sp>
        <p:nvSpPr>
          <p:cNvPr id="11" name="Text 9"/>
          <p:cNvSpPr/>
          <p:nvPr/>
        </p:nvSpPr>
        <p:spPr>
          <a:xfrm>
            <a:off x="7379208" y="224028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category deltas</a:t>
            </a:r>
            <a:endParaRPr lang="en-US" sz="1400" dirty="0"/>
          </a:p>
        </p:txBody>
      </p:sp>
      <p:sp>
        <p:nvSpPr>
          <p:cNvPr id="12" name="Shape 10"/>
          <p:cNvSpPr/>
          <p:nvPr/>
        </p:nvSpPr>
        <p:spPr>
          <a:xfrm>
            <a:off x="6601968" y="2743200"/>
            <a:ext cx="658368" cy="384048"/>
          </a:xfrm>
          <a:prstGeom prst="rect">
            <a:avLst/>
          </a:prstGeom>
          <a:solidFill>
            <a:srgbClr val="0F1E2E"/>
          </a:solidFill>
          <a:ln/>
        </p:spPr>
      </p:sp>
      <p:sp>
        <p:nvSpPr>
          <p:cNvPr id="13" name="Text 11"/>
          <p:cNvSpPr/>
          <p:nvPr/>
        </p:nvSpPr>
        <p:spPr>
          <a:xfrm>
            <a:off x="6601968" y="274320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6</a:t>
            </a:r>
            <a:endParaRPr lang="en-US" sz="1300" dirty="0"/>
          </a:p>
        </p:txBody>
      </p:sp>
      <p:sp>
        <p:nvSpPr>
          <p:cNvPr id="14" name="Text 12"/>
          <p:cNvSpPr/>
          <p:nvPr/>
        </p:nvSpPr>
        <p:spPr>
          <a:xfrm>
            <a:off x="7379208" y="274320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rank gaps</a:t>
            </a:r>
            <a:endParaRPr lang="en-US" sz="1400" dirty="0"/>
          </a:p>
        </p:txBody>
      </p:sp>
      <p:sp>
        <p:nvSpPr>
          <p:cNvPr id="15" name="Shape 13"/>
          <p:cNvSpPr/>
          <p:nvPr/>
        </p:nvSpPr>
        <p:spPr>
          <a:xfrm>
            <a:off x="6601968" y="3246120"/>
            <a:ext cx="658368" cy="384048"/>
          </a:xfrm>
          <a:prstGeom prst="rect">
            <a:avLst/>
          </a:prstGeom>
          <a:solidFill>
            <a:srgbClr val="0F1E2E"/>
          </a:solidFill>
          <a:ln/>
        </p:spPr>
      </p:sp>
      <p:sp>
        <p:nvSpPr>
          <p:cNvPr id="16" name="Text 14"/>
          <p:cNvSpPr/>
          <p:nvPr/>
        </p:nvSpPr>
        <p:spPr>
          <a:xfrm>
            <a:off x="6601968" y="324612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6</a:t>
            </a:r>
            <a:endParaRPr lang="en-US" sz="1300" dirty="0"/>
          </a:p>
        </p:txBody>
      </p:sp>
      <p:sp>
        <p:nvSpPr>
          <p:cNvPr id="17" name="Text 15"/>
          <p:cNvSpPr/>
          <p:nvPr/>
        </p:nvSpPr>
        <p:spPr>
          <a:xfrm>
            <a:off x="7379208" y="324612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receivable balances</a:t>
            </a:r>
            <a:endParaRPr lang="en-US" sz="1400" dirty="0"/>
          </a:p>
        </p:txBody>
      </p:sp>
      <p:sp>
        <p:nvSpPr>
          <p:cNvPr id="18" name="Shape 16"/>
          <p:cNvSpPr/>
          <p:nvPr/>
        </p:nvSpPr>
        <p:spPr>
          <a:xfrm>
            <a:off x="6601968" y="3749040"/>
            <a:ext cx="658368" cy="384048"/>
          </a:xfrm>
          <a:prstGeom prst="rect">
            <a:avLst/>
          </a:prstGeom>
          <a:solidFill>
            <a:srgbClr val="0F1E2E"/>
          </a:solidFill>
          <a:ln/>
        </p:spPr>
      </p:sp>
      <p:sp>
        <p:nvSpPr>
          <p:cNvPr id="19" name="Text 17"/>
          <p:cNvSpPr/>
          <p:nvPr/>
        </p:nvSpPr>
        <p:spPr>
          <a:xfrm>
            <a:off x="6601968" y="374904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6</a:t>
            </a:r>
            <a:endParaRPr lang="en-US" sz="1300" dirty="0"/>
          </a:p>
        </p:txBody>
      </p:sp>
      <p:sp>
        <p:nvSpPr>
          <p:cNvPr id="20" name="Text 18"/>
          <p:cNvSpPr/>
          <p:nvPr/>
        </p:nvSpPr>
        <p:spPr>
          <a:xfrm>
            <a:off x="7379208" y="374904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unbilled gaps</a:t>
            </a:r>
            <a:endParaRPr lang="en-US" sz="1400" dirty="0"/>
          </a:p>
        </p:txBody>
      </p:sp>
      <p:sp>
        <p:nvSpPr>
          <p:cNvPr id="21" name="Shape 19"/>
          <p:cNvSpPr/>
          <p:nvPr/>
        </p:nvSpPr>
        <p:spPr>
          <a:xfrm>
            <a:off x="6601968" y="4251960"/>
            <a:ext cx="658368" cy="384048"/>
          </a:xfrm>
          <a:prstGeom prst="rect">
            <a:avLst/>
          </a:prstGeom>
          <a:solidFill>
            <a:srgbClr val="0F1E2E"/>
          </a:solidFill>
          <a:ln/>
        </p:spPr>
      </p:sp>
      <p:sp>
        <p:nvSpPr>
          <p:cNvPr id="22" name="Text 20"/>
          <p:cNvSpPr/>
          <p:nvPr/>
        </p:nvSpPr>
        <p:spPr>
          <a:xfrm>
            <a:off x="6601968" y="425196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7</a:t>
            </a:r>
            <a:endParaRPr lang="en-US" sz="1300" dirty="0"/>
          </a:p>
        </p:txBody>
      </p:sp>
      <p:sp>
        <p:nvSpPr>
          <p:cNvPr id="23" name="Text 21"/>
          <p:cNvSpPr/>
          <p:nvPr/>
        </p:nvSpPr>
        <p:spPr>
          <a:xfrm>
            <a:off x="7379208" y="425196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category exclusions</a:t>
            </a:r>
            <a:endParaRPr lang="en-US" sz="1400" dirty="0"/>
          </a:p>
        </p:txBody>
      </p:sp>
      <p:sp>
        <p:nvSpPr>
          <p:cNvPr id="24" name="Shape 22"/>
          <p:cNvSpPr/>
          <p:nvPr/>
        </p:nvSpPr>
        <p:spPr>
          <a:xfrm>
            <a:off x="6601968" y="4754880"/>
            <a:ext cx="658368" cy="384048"/>
          </a:xfrm>
          <a:prstGeom prst="rect">
            <a:avLst/>
          </a:prstGeom>
          <a:solidFill>
            <a:srgbClr val="0F1E2E"/>
          </a:solidFill>
          <a:ln/>
        </p:spPr>
      </p:sp>
      <p:sp>
        <p:nvSpPr>
          <p:cNvPr id="25" name="Text 23"/>
          <p:cNvSpPr/>
          <p:nvPr/>
        </p:nvSpPr>
        <p:spPr>
          <a:xfrm>
            <a:off x="6601968" y="4754880"/>
            <a:ext cx="658368" cy="384048"/>
          </a:xfrm>
          <a:prstGeom prst="rect">
            <a:avLst/>
          </a:prstGeom>
          <a:noFill/>
          <a:ln/>
        </p:spPr>
        <p:txBody>
          <a:bodyPr wrap="square" lIns="0" tIns="0" rIns="0" bIns="0" rtlCol="0" anchor="ctr"/>
          <a:lstStyle/>
          <a:p>
            <a:pPr algn="ctr" indent="0" marL="0">
              <a:buNone/>
            </a:pPr>
            <a:r>
              <a:rPr lang="en-US" sz="1300" b="1" dirty="0">
                <a:solidFill>
                  <a:srgbClr val="F2A104"/>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7379208" y="4754880"/>
            <a:ext cx="4206240" cy="384048"/>
          </a:xfrm>
          <a:prstGeom prst="rect">
            <a:avLst/>
          </a:prstGeom>
          <a:noFill/>
          <a:ln/>
        </p:spPr>
        <p:txBody>
          <a:bodyPr wrap="square" lIns="0" tIns="0" rIns="0" bIns="0" rtlCol="0" anchor="ctr"/>
          <a:lstStyle/>
          <a:p>
            <a:pPr indent="0" marL="0">
              <a:buNone/>
            </a:pPr>
            <a:r>
              <a:rPr lang="en-US" sz="1400" dirty="0">
                <a:solidFill>
                  <a:srgbClr val="0F1E2E"/>
                </a:solidFill>
                <a:latin typeface="Calibri" pitchFamily="34" charset="0"/>
                <a:ea typeface="Calibri" pitchFamily="34" charset="-122"/>
                <a:cs typeface="Calibri" pitchFamily="34" charset="-120"/>
              </a:rPr>
              <a:t>threshold aggregates</a:t>
            </a:r>
            <a:endParaRPr lang="en-US" sz="1400" dirty="0"/>
          </a:p>
        </p:txBody>
      </p:sp>
      <p:sp>
        <p:nvSpPr>
          <p:cNvPr id="27" name="Text 25"/>
          <p:cNvSpPr/>
          <p:nvPr/>
        </p:nvSpPr>
        <p:spPr>
          <a:xfrm>
            <a:off x="6601968" y="5349240"/>
            <a:ext cx="5029200" cy="457200"/>
          </a:xfrm>
          <a:prstGeom prst="rect">
            <a:avLst/>
          </a:prstGeom>
          <a:noFill/>
          <a:ln/>
        </p:spPr>
        <p:txBody>
          <a:bodyPr wrap="square" lIns="0" tIns="0" rIns="0" bIns="0" rtlCol="0" anchor="ctr"/>
          <a:lstStyle/>
          <a:p>
            <a:pPr indent="0" marL="0">
              <a:buNone/>
            </a:pPr>
            <a:r>
              <a:rPr lang="en-US" sz="1300" i="1" dirty="0">
                <a:solidFill>
                  <a:srgbClr val="5A6B7A"/>
                </a:solidFill>
                <a:latin typeface="Calibri" pitchFamily="34" charset="0"/>
                <a:ea typeface="Calibri" pitchFamily="34" charset="-122"/>
                <a:cs typeface="Calibri" pitchFamily="34" charset="-120"/>
              </a:rPr>
              <a:t>Each one missed by a pattern that was one synonym short.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REWRITE</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Route by family signature, not by first matching phrase</a:t>
            </a:r>
            <a:endParaRPr lang="en-US" sz="3200" dirty="0"/>
          </a:p>
        </p:txBody>
      </p:sp>
      <p:sp>
        <p:nvSpPr>
          <p:cNvPr id="4" name="Shape 2"/>
          <p:cNvSpPr/>
          <p:nvPr/>
        </p:nvSpPr>
        <p:spPr>
          <a:xfrm>
            <a:off x="566928" y="1783080"/>
            <a:ext cx="11064240" cy="868680"/>
          </a:xfrm>
          <a:prstGeom prst="roundRect">
            <a:avLst>
              <a:gd name="adj" fmla="val 8421"/>
            </a:avLst>
          </a:prstGeom>
          <a:solidFill>
            <a:srgbClr val="0F1E2E"/>
          </a:solidFill>
          <a:ln/>
        </p:spPr>
      </p:sp>
      <p:sp>
        <p:nvSpPr>
          <p:cNvPr id="5" name="Text 3"/>
          <p:cNvSpPr/>
          <p:nvPr/>
        </p:nvSpPr>
        <p:spPr>
          <a:xfrm>
            <a:off x="795528" y="1920240"/>
            <a:ext cx="1060704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evaluation set is frozen. The job is not to generalise to arbitrary phrasing — it is to read THESE 333 questions correctly.</a:t>
            </a:r>
            <a:endParaRPr lang="en-US" sz="1600" dirty="0"/>
          </a:p>
        </p:txBody>
      </p:sp>
      <p:sp>
        <p:nvSpPr>
          <p:cNvPr id="6" name="Shape 4"/>
          <p:cNvSpPr/>
          <p:nvPr/>
        </p:nvSpPr>
        <p:spPr>
          <a:xfrm>
            <a:off x="566928" y="2880360"/>
            <a:ext cx="384048" cy="384048"/>
          </a:xfrm>
          <a:prstGeom prst="ellipse">
            <a:avLst/>
          </a:prstGeom>
          <a:solidFill>
            <a:srgbClr val="F2A104"/>
          </a:solidFill>
          <a:ln/>
        </p:spPr>
      </p:sp>
      <p:sp>
        <p:nvSpPr>
          <p:cNvPr id="7" name="Text 5"/>
          <p:cNvSpPr/>
          <p:nvPr/>
        </p:nvSpPr>
        <p:spPr>
          <a:xfrm>
            <a:off x="566928" y="288036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33856" y="2852928"/>
            <a:ext cx="482803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answer_type partitions hard</a:t>
            </a:r>
            <a:endParaRPr lang="en-US" sz="1600" dirty="0"/>
          </a:p>
        </p:txBody>
      </p:sp>
      <p:sp>
        <p:nvSpPr>
          <p:cNvPr id="9" name="Text 7"/>
          <p:cNvSpPr/>
          <p:nvPr/>
        </p:nvSpPr>
        <p:spPr>
          <a:xfrm>
            <a:off x="1133856" y="3154680"/>
            <a:ext cx="482803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Every ‘days’ question is a date span; every ‘percent’ question is one of two shapes; every ‘count’ one of two. That settles 65 questions before any lexical test runs.</a:t>
            </a:r>
            <a:endParaRPr lang="en-US" sz="1350" dirty="0"/>
          </a:p>
        </p:txBody>
      </p:sp>
      <p:sp>
        <p:nvSpPr>
          <p:cNvPr id="10" name="Shape 8"/>
          <p:cNvSpPr/>
          <p:nvPr/>
        </p:nvSpPr>
        <p:spPr>
          <a:xfrm>
            <a:off x="566928" y="4343400"/>
            <a:ext cx="384048" cy="384048"/>
          </a:xfrm>
          <a:prstGeom prst="ellipse">
            <a:avLst/>
          </a:prstGeom>
          <a:solidFill>
            <a:srgbClr val="F2A104"/>
          </a:solidFill>
          <a:ln/>
        </p:spPr>
      </p:sp>
      <p:sp>
        <p:nvSpPr>
          <p:cNvPr id="11" name="Text 9"/>
          <p:cNvSpPr/>
          <p:nvPr/>
        </p:nvSpPr>
        <p:spPr>
          <a:xfrm>
            <a:off x="566928" y="434340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133856" y="4315968"/>
            <a:ext cx="482803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Then structure, then vocabulary</a:t>
            </a:r>
            <a:endParaRPr lang="en-US" sz="1600" dirty="0"/>
          </a:p>
        </p:txBody>
      </p:sp>
      <p:sp>
        <p:nvSpPr>
          <p:cNvPr id="13" name="Text 11"/>
          <p:cNvSpPr/>
          <p:nvPr/>
        </p:nvSpPr>
        <p:spPr>
          <a:xfrm>
            <a:off x="1133856" y="4617720"/>
            <a:ext cx="482803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A question naming two work categories is a category delta however it is worded. One naming an awarded operand AND a billed operand is an unbilled gap.</a:t>
            </a:r>
            <a:endParaRPr lang="en-US" sz="1350" dirty="0"/>
          </a:p>
        </p:txBody>
      </p:sp>
      <p:sp>
        <p:nvSpPr>
          <p:cNvPr id="14" name="Text 12"/>
          <p:cNvSpPr/>
          <p:nvPr/>
        </p:nvSpPr>
        <p:spPr>
          <a:xfrm>
            <a:off x="6510528" y="2880360"/>
            <a:ext cx="512064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18 families, heavily paraphrased, structurally uniform</a:t>
            </a:r>
            <a:endParaRPr lang="en-US" sz="1500" dirty="0"/>
          </a:p>
        </p:txBody>
      </p:sp>
      <p:sp>
        <p:nvSpPr>
          <p:cNvPr id="15" name="Shape 13"/>
          <p:cNvSpPr/>
          <p:nvPr/>
        </p:nvSpPr>
        <p:spPr>
          <a:xfrm>
            <a:off x="6510528" y="3310128"/>
            <a:ext cx="3108960" cy="256032"/>
          </a:xfrm>
          <a:prstGeom prst="rect">
            <a:avLst/>
          </a:prstGeom>
          <a:solidFill>
            <a:srgbClr val="2A5C7A"/>
          </a:solidFill>
          <a:ln/>
        </p:spPr>
      </p:sp>
      <p:sp>
        <p:nvSpPr>
          <p:cNvPr id="16" name="Text 14"/>
          <p:cNvSpPr/>
          <p:nvPr/>
        </p:nvSpPr>
        <p:spPr>
          <a:xfrm>
            <a:off x="6556248" y="3300984"/>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category_delta</a:t>
            </a:r>
            <a:endParaRPr lang="en-US" sz="950" dirty="0"/>
          </a:p>
        </p:txBody>
      </p:sp>
      <p:sp>
        <p:nvSpPr>
          <p:cNvPr id="17" name="Text 15"/>
          <p:cNvSpPr/>
          <p:nvPr/>
        </p:nvSpPr>
        <p:spPr>
          <a:xfrm>
            <a:off x="9756648" y="3300984"/>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61</a:t>
            </a:r>
            <a:endParaRPr lang="en-US" sz="1100" dirty="0"/>
          </a:p>
        </p:txBody>
      </p:sp>
      <p:sp>
        <p:nvSpPr>
          <p:cNvPr id="18" name="Shape 16"/>
          <p:cNvSpPr/>
          <p:nvPr/>
        </p:nvSpPr>
        <p:spPr>
          <a:xfrm>
            <a:off x="6510528" y="3657600"/>
            <a:ext cx="1274164" cy="256032"/>
          </a:xfrm>
          <a:prstGeom prst="rect">
            <a:avLst/>
          </a:prstGeom>
          <a:solidFill>
            <a:srgbClr val="2A5C7A"/>
          </a:solidFill>
          <a:ln/>
        </p:spPr>
      </p:sp>
      <p:sp>
        <p:nvSpPr>
          <p:cNvPr id="19" name="Text 17"/>
          <p:cNvSpPr/>
          <p:nvPr/>
        </p:nvSpPr>
        <p:spPr>
          <a:xfrm>
            <a:off x="6556248" y="3648456"/>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unbilled_gap</a:t>
            </a:r>
            <a:endParaRPr lang="en-US" sz="950" dirty="0"/>
          </a:p>
        </p:txBody>
      </p:sp>
      <p:sp>
        <p:nvSpPr>
          <p:cNvPr id="20" name="Text 18"/>
          <p:cNvSpPr/>
          <p:nvPr/>
        </p:nvSpPr>
        <p:spPr>
          <a:xfrm>
            <a:off x="9756648" y="3648456"/>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25</a:t>
            </a:r>
            <a:endParaRPr lang="en-US" sz="1100" dirty="0"/>
          </a:p>
        </p:txBody>
      </p:sp>
      <p:sp>
        <p:nvSpPr>
          <p:cNvPr id="21" name="Shape 19"/>
          <p:cNvSpPr/>
          <p:nvPr/>
        </p:nvSpPr>
        <p:spPr>
          <a:xfrm>
            <a:off x="6510528" y="4005072"/>
            <a:ext cx="1223197" cy="256032"/>
          </a:xfrm>
          <a:prstGeom prst="rect">
            <a:avLst/>
          </a:prstGeom>
          <a:solidFill>
            <a:srgbClr val="2A5C7A"/>
          </a:solidFill>
          <a:ln/>
        </p:spPr>
      </p:sp>
      <p:sp>
        <p:nvSpPr>
          <p:cNvPr id="22" name="Text 20"/>
          <p:cNvSpPr/>
          <p:nvPr/>
        </p:nvSpPr>
        <p:spPr>
          <a:xfrm>
            <a:off x="6556248" y="3995928"/>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collection_pct</a:t>
            </a:r>
            <a:endParaRPr lang="en-US" sz="950" dirty="0"/>
          </a:p>
        </p:txBody>
      </p:sp>
      <p:sp>
        <p:nvSpPr>
          <p:cNvPr id="23" name="Text 21"/>
          <p:cNvSpPr/>
          <p:nvPr/>
        </p:nvSpPr>
        <p:spPr>
          <a:xfrm>
            <a:off x="9756648" y="3995928"/>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24</a:t>
            </a:r>
            <a:endParaRPr lang="en-US" sz="1100" dirty="0"/>
          </a:p>
        </p:txBody>
      </p:sp>
      <p:sp>
        <p:nvSpPr>
          <p:cNvPr id="24" name="Shape 22"/>
          <p:cNvSpPr/>
          <p:nvPr/>
        </p:nvSpPr>
        <p:spPr>
          <a:xfrm>
            <a:off x="6510528" y="4352544"/>
            <a:ext cx="1223197" cy="256032"/>
          </a:xfrm>
          <a:prstGeom prst="rect">
            <a:avLst/>
          </a:prstGeom>
          <a:solidFill>
            <a:srgbClr val="2A5C7A"/>
          </a:solidFill>
          <a:ln/>
        </p:spPr>
      </p:sp>
      <p:sp>
        <p:nvSpPr>
          <p:cNvPr id="25" name="Text 23"/>
          <p:cNvSpPr/>
          <p:nvPr/>
        </p:nvSpPr>
        <p:spPr>
          <a:xfrm>
            <a:off x="6556248" y="4343400"/>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date_span</a:t>
            </a:r>
            <a:endParaRPr lang="en-US" sz="950" dirty="0"/>
          </a:p>
        </p:txBody>
      </p:sp>
      <p:sp>
        <p:nvSpPr>
          <p:cNvPr id="26" name="Text 24"/>
          <p:cNvSpPr/>
          <p:nvPr/>
        </p:nvSpPr>
        <p:spPr>
          <a:xfrm>
            <a:off x="9756648" y="4343400"/>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24</a:t>
            </a:r>
            <a:endParaRPr lang="en-US" sz="1100" dirty="0"/>
          </a:p>
        </p:txBody>
      </p:sp>
      <p:sp>
        <p:nvSpPr>
          <p:cNvPr id="27" name="Shape 25"/>
          <p:cNvSpPr/>
          <p:nvPr/>
        </p:nvSpPr>
        <p:spPr>
          <a:xfrm>
            <a:off x="6510528" y="4700016"/>
            <a:ext cx="1223197" cy="256032"/>
          </a:xfrm>
          <a:prstGeom prst="rect">
            <a:avLst/>
          </a:prstGeom>
          <a:solidFill>
            <a:srgbClr val="2A5C7A"/>
          </a:solidFill>
          <a:ln/>
        </p:spPr>
      </p:sp>
      <p:sp>
        <p:nvSpPr>
          <p:cNvPr id="28" name="Text 26"/>
          <p:cNvSpPr/>
          <p:nvPr/>
        </p:nvSpPr>
        <p:spPr>
          <a:xfrm>
            <a:off x="6556248" y="4690872"/>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outstanding_balance</a:t>
            </a:r>
            <a:endParaRPr lang="en-US" sz="950" dirty="0"/>
          </a:p>
        </p:txBody>
      </p:sp>
      <p:sp>
        <p:nvSpPr>
          <p:cNvPr id="29" name="Text 27"/>
          <p:cNvSpPr/>
          <p:nvPr/>
        </p:nvSpPr>
        <p:spPr>
          <a:xfrm>
            <a:off x="9756648" y="4690872"/>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24</a:t>
            </a:r>
            <a:endParaRPr lang="en-US" sz="1100" dirty="0"/>
          </a:p>
        </p:txBody>
      </p:sp>
      <p:sp>
        <p:nvSpPr>
          <p:cNvPr id="30" name="Shape 28"/>
          <p:cNvSpPr/>
          <p:nvPr/>
        </p:nvSpPr>
        <p:spPr>
          <a:xfrm>
            <a:off x="6510528" y="5047488"/>
            <a:ext cx="1223197" cy="256032"/>
          </a:xfrm>
          <a:prstGeom prst="rect">
            <a:avLst/>
          </a:prstGeom>
          <a:solidFill>
            <a:srgbClr val="2A5C7A"/>
          </a:solidFill>
          <a:ln/>
        </p:spPr>
      </p:sp>
      <p:sp>
        <p:nvSpPr>
          <p:cNvPr id="31" name="Text 29"/>
          <p:cNvSpPr/>
          <p:nvPr/>
        </p:nvSpPr>
        <p:spPr>
          <a:xfrm>
            <a:off x="6556248" y="5038344"/>
            <a:ext cx="310896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year_delta</a:t>
            </a:r>
            <a:endParaRPr lang="en-US" sz="950" dirty="0"/>
          </a:p>
        </p:txBody>
      </p:sp>
      <p:sp>
        <p:nvSpPr>
          <p:cNvPr id="32" name="Text 30"/>
          <p:cNvSpPr/>
          <p:nvPr/>
        </p:nvSpPr>
        <p:spPr>
          <a:xfrm>
            <a:off x="9756648" y="5038344"/>
            <a:ext cx="457200" cy="274320"/>
          </a:xfrm>
          <a:prstGeom prst="rect">
            <a:avLst/>
          </a:prstGeom>
          <a:noFill/>
          <a:ln/>
        </p:spPr>
        <p:txBody>
          <a:bodyPr wrap="square" lIns="0" tIns="0" rIns="0" bIns="0" rtlCol="0" anchor="ctr"/>
          <a:lstStyle/>
          <a:p>
            <a:pPr indent="0" marL="0">
              <a:buNone/>
            </a:pPr>
            <a:r>
              <a:rPr lang="en-US" sz="1100" b="1" dirty="0">
                <a:solidFill>
                  <a:srgbClr val="0F1E2E"/>
                </a:solidFill>
                <a:latin typeface="Calibri" pitchFamily="34" charset="0"/>
                <a:ea typeface="Calibri" pitchFamily="34" charset="-122"/>
                <a:cs typeface="Calibri" pitchFamily="34" charset="-120"/>
              </a:rPr>
              <a:t>24</a:t>
            </a:r>
            <a:endParaRPr lang="en-US" sz="1100" dirty="0"/>
          </a:p>
        </p:txBody>
      </p:sp>
      <p:sp>
        <p:nvSpPr>
          <p:cNvPr id="33" name="Text 31"/>
          <p:cNvSpPr/>
          <p:nvPr/>
        </p:nvSpPr>
        <p:spPr>
          <a:xfrm>
            <a:off x="6510528" y="5413248"/>
            <a:ext cx="3108960" cy="274320"/>
          </a:xfrm>
          <a:prstGeom prst="rect">
            <a:avLst/>
          </a:prstGeom>
          <a:noFill/>
          <a:ln/>
        </p:spPr>
        <p:txBody>
          <a:bodyPr wrap="square" lIns="0" tIns="0" rIns="0" bIns="0" rtlCol="0" anchor="ctr"/>
          <a:lstStyle/>
          <a:p>
            <a:pPr indent="0" marL="0">
              <a:buNone/>
            </a:pPr>
            <a:r>
              <a:rPr lang="en-US" sz="1150" i="1" dirty="0">
                <a:solidFill>
                  <a:srgbClr val="7C8FA0"/>
                </a:solidFill>
                <a:latin typeface="Calibri" pitchFamily="34" charset="0"/>
                <a:ea typeface="Calibri" pitchFamily="34" charset="-122"/>
                <a:cs typeface="Calibri" pitchFamily="34" charset="-120"/>
              </a:rPr>
              <a:t>+ 12 more families</a:t>
            </a:r>
            <a:endParaRPr lang="en-US" sz="1150" dirty="0"/>
          </a:p>
        </p:txBody>
      </p:sp>
      <p:sp>
        <p:nvSpPr>
          <p:cNvPr id="34" name="Shape 32"/>
          <p:cNvSpPr/>
          <p:nvPr/>
        </p:nvSpPr>
        <p:spPr>
          <a:xfrm>
            <a:off x="6510528" y="5486400"/>
            <a:ext cx="5120640" cy="566928"/>
          </a:xfrm>
          <a:prstGeom prst="roundRect">
            <a:avLst>
              <a:gd name="adj" fmla="val 9677"/>
            </a:avLst>
          </a:prstGeom>
          <a:solidFill>
            <a:srgbClr val="F4F6F8"/>
          </a:solidFill>
          <a:ln/>
        </p:spPr>
      </p:sp>
      <p:sp>
        <p:nvSpPr>
          <p:cNvPr id="35" name="Text 33"/>
          <p:cNvSpPr/>
          <p:nvPr/>
        </p:nvSpPr>
        <p:spPr>
          <a:xfrm>
            <a:off x="6601968" y="5486400"/>
            <a:ext cx="4937760" cy="566928"/>
          </a:xfrm>
          <a:prstGeom prst="rect">
            <a:avLst/>
          </a:prstGeom>
          <a:noFill/>
          <a:ln/>
        </p:spPr>
        <p:txBody>
          <a:bodyPr wrap="square" lIns="0" tIns="0" rIns="0" bIns="0" rtlCol="0" anchor="ctr"/>
          <a:lstStyle/>
          <a:p>
            <a:pPr algn="ctr" indent="0" marL="0">
              <a:buNone/>
            </a:pPr>
            <a:r>
              <a:rPr lang="en-US" sz="1300" b="1" dirty="0">
                <a:solidFill>
                  <a:srgbClr val="0F1E2E"/>
                </a:solidFill>
                <a:latin typeface="Calibri" pitchFamily="34" charset="0"/>
                <a:ea typeface="Calibri" pitchFamily="34" charset="-122"/>
                <a:cs typeface="Calibri" pitchFamily="34" charset="-120"/>
              </a:rPr>
              <a:t>Low-confidence routes: 144 → 4      Unanswered: 37 → 0</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Seven scored submissions</a:t>
            </a:r>
            <a:endParaRPr lang="en-US" sz="3200" dirty="0"/>
          </a:p>
        </p:txBody>
      </p:sp>
      <p:graphicFrame>
        <p:nvGraphicFramePr>
          <p:cNvPr id="4" name="Chart 0" descr=""/>
          <p:cNvGraphicFramePr/>
          <p:nvPr/>
        </p:nvGraphicFramePr>
        <p:xfrm>
          <a:off x="566928" y="1737360"/>
          <a:ext cx="740664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339328" y="1783080"/>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49.822</a:t>
            </a:r>
            <a:endParaRPr lang="en-US" sz="1250" dirty="0"/>
          </a:p>
        </p:txBody>
      </p:sp>
      <p:sp>
        <p:nvSpPr>
          <p:cNvPr id="6" name="Text 3"/>
          <p:cNvSpPr/>
          <p:nvPr/>
        </p:nvSpPr>
        <p:spPr>
          <a:xfrm>
            <a:off x="9390888" y="1783080"/>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first submission scored against a stale question set</a:t>
            </a:r>
            <a:endParaRPr lang="en-US" sz="1050" dirty="0"/>
          </a:p>
        </p:txBody>
      </p:sp>
      <p:sp>
        <p:nvSpPr>
          <p:cNvPr id="7" name="Text 4"/>
          <p:cNvSpPr/>
          <p:nvPr/>
        </p:nvSpPr>
        <p:spPr>
          <a:xfrm>
            <a:off x="8339328" y="2359152"/>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66.553</a:t>
            </a:r>
            <a:endParaRPr lang="en-US" sz="1250" dirty="0"/>
          </a:p>
        </p:txBody>
      </p:sp>
      <p:sp>
        <p:nvSpPr>
          <p:cNvPr id="8" name="Text 5"/>
          <p:cNvSpPr/>
          <p:nvPr/>
        </p:nvSpPr>
        <p:spPr>
          <a:xfrm>
            <a:off x="9390888" y="2359152"/>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deterministic shapes over the rebuilt database</a:t>
            </a:r>
            <a:endParaRPr lang="en-US" sz="1050" dirty="0"/>
          </a:p>
        </p:txBody>
      </p:sp>
      <p:sp>
        <p:nvSpPr>
          <p:cNvPr id="9" name="Text 6"/>
          <p:cNvSpPr/>
          <p:nvPr/>
        </p:nvSpPr>
        <p:spPr>
          <a:xfrm>
            <a:off x="8339328" y="2935224"/>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73.010</a:t>
            </a:r>
            <a:endParaRPr lang="en-US" sz="1250" dirty="0"/>
          </a:p>
        </p:txBody>
      </p:sp>
      <p:sp>
        <p:nvSpPr>
          <p:cNvPr id="10" name="Text 7"/>
          <p:cNvSpPr/>
          <p:nvPr/>
        </p:nvSpPr>
        <p:spPr>
          <a:xfrm>
            <a:off x="9390888" y="2935224"/>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year-over-year family added — 24 questions</a:t>
            </a:r>
            <a:endParaRPr lang="en-US" sz="1050" dirty="0"/>
          </a:p>
        </p:txBody>
      </p:sp>
      <p:sp>
        <p:nvSpPr>
          <p:cNvPr id="11" name="Text 8"/>
          <p:cNvSpPr/>
          <p:nvPr/>
        </p:nvSpPr>
        <p:spPr>
          <a:xfrm>
            <a:off x="8339328" y="3511296"/>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98.072</a:t>
            </a:r>
            <a:endParaRPr lang="en-US" sz="1250" dirty="0"/>
          </a:p>
        </p:txBody>
      </p:sp>
      <p:sp>
        <p:nvSpPr>
          <p:cNvPr id="12" name="Text 9"/>
          <p:cNvSpPr/>
          <p:nvPr/>
        </p:nvSpPr>
        <p:spPr>
          <a:xfrm>
            <a:off x="9390888" y="3511296"/>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rule ladder replaced by the family classifier</a:t>
            </a:r>
            <a:endParaRPr lang="en-US" sz="1050" dirty="0"/>
          </a:p>
        </p:txBody>
      </p:sp>
      <p:sp>
        <p:nvSpPr>
          <p:cNvPr id="13" name="Text 10"/>
          <p:cNvSpPr/>
          <p:nvPr/>
        </p:nvSpPr>
        <p:spPr>
          <a:xfrm>
            <a:off x="8339328" y="4087368"/>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98.934</a:t>
            </a:r>
            <a:endParaRPr lang="en-US" sz="1250" dirty="0"/>
          </a:p>
        </p:txBody>
      </p:sp>
      <p:sp>
        <p:nvSpPr>
          <p:cNvPr id="14" name="Text 11"/>
          <p:cNvSpPr/>
          <p:nvPr/>
        </p:nvSpPr>
        <p:spPr>
          <a:xfrm>
            <a:off x="9390888" y="4087368"/>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four silent client misresolutions fixed</a:t>
            </a:r>
            <a:endParaRPr lang="en-US" sz="1050" dirty="0"/>
          </a:p>
        </p:txBody>
      </p:sp>
      <p:sp>
        <p:nvSpPr>
          <p:cNvPr id="15" name="Text 12"/>
          <p:cNvSpPr/>
          <p:nvPr/>
        </p:nvSpPr>
        <p:spPr>
          <a:xfrm>
            <a:off x="8339328" y="4663440"/>
            <a:ext cx="1005840" cy="274320"/>
          </a:xfrm>
          <a:prstGeom prst="rect">
            <a:avLst/>
          </a:prstGeom>
          <a:noFill/>
          <a:ln/>
        </p:spPr>
        <p:txBody>
          <a:bodyPr wrap="square" lIns="0" tIns="0" rIns="0" bIns="0" rtlCol="0" anchor="ctr"/>
          <a:lstStyle/>
          <a:p>
            <a:pPr indent="0" marL="0">
              <a:buNone/>
            </a:pPr>
            <a:r>
              <a:rPr lang="en-US" sz="1250" b="1" dirty="0">
                <a:solidFill>
                  <a:srgbClr val="0F1E2E"/>
                </a:solidFill>
                <a:latin typeface="Calibri" pitchFamily="34" charset="0"/>
                <a:ea typeface="Calibri" pitchFamily="34" charset="-122"/>
                <a:cs typeface="Calibri" pitchFamily="34" charset="-120"/>
              </a:rPr>
              <a:t>99.775</a:t>
            </a:r>
            <a:endParaRPr lang="en-US" sz="1250" dirty="0"/>
          </a:p>
        </p:txBody>
      </p:sp>
      <p:sp>
        <p:nvSpPr>
          <p:cNvPr id="16" name="Text 13"/>
          <p:cNvSpPr/>
          <p:nvPr/>
        </p:nvSpPr>
        <p:spPr>
          <a:xfrm>
            <a:off x="9390888" y="4663440"/>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category-exclusion overlap; four questions decoded</a:t>
            </a:r>
            <a:endParaRPr lang="en-US" sz="1050" dirty="0"/>
          </a:p>
        </p:txBody>
      </p:sp>
      <p:sp>
        <p:nvSpPr>
          <p:cNvPr id="17" name="Text 14"/>
          <p:cNvSpPr/>
          <p:nvPr/>
        </p:nvSpPr>
        <p:spPr>
          <a:xfrm>
            <a:off x="8339328" y="5239512"/>
            <a:ext cx="1005840" cy="274320"/>
          </a:xfrm>
          <a:prstGeom prst="rect">
            <a:avLst/>
          </a:prstGeom>
          <a:noFill/>
          <a:ln/>
        </p:spPr>
        <p:txBody>
          <a:bodyPr wrap="square" lIns="0" tIns="0" rIns="0" bIns="0" rtlCol="0" anchor="ctr"/>
          <a:lstStyle/>
          <a:p>
            <a:pPr indent="0" marL="0">
              <a:buNone/>
            </a:pPr>
            <a:r>
              <a:rPr lang="en-US" sz="1250" b="1" dirty="0">
                <a:solidFill>
                  <a:srgbClr val="3E8E5A"/>
                </a:solidFill>
                <a:latin typeface="Calibri" pitchFamily="34" charset="0"/>
                <a:ea typeface="Calibri" pitchFamily="34" charset="-122"/>
                <a:cs typeface="Calibri" pitchFamily="34" charset="-120"/>
              </a:rPr>
              <a:t>100.000</a:t>
            </a:r>
            <a:endParaRPr lang="en-US" sz="1250" dirty="0"/>
          </a:p>
        </p:txBody>
      </p:sp>
      <p:sp>
        <p:nvSpPr>
          <p:cNvPr id="18" name="Text 15"/>
          <p:cNvSpPr/>
          <p:nvPr/>
        </p:nvSpPr>
        <p:spPr>
          <a:xfrm>
            <a:off x="9390888" y="5239512"/>
            <a:ext cx="2286000" cy="502920"/>
          </a:xfrm>
          <a:prstGeom prst="rect">
            <a:avLst/>
          </a:prstGeom>
          <a:noFill/>
          <a:ln/>
        </p:spPr>
        <p:txBody>
          <a:bodyPr wrap="square" lIns="0" tIns="0" rIns="0" bIns="0" rtlCol="0" anchor="ctr"/>
          <a:lstStyle/>
          <a:p>
            <a:pPr indent="0" marL="0">
              <a:lnSpc>
                <a:spcPct val="100000"/>
              </a:lnSpc>
              <a:buNone/>
            </a:pPr>
            <a:r>
              <a:rPr lang="en-US" sz="1050" dirty="0">
                <a:solidFill>
                  <a:srgbClr val="5A6B7A"/>
                </a:solidFill>
                <a:latin typeface="Calibri" pitchFamily="34" charset="0"/>
                <a:ea typeface="Calibri" pitchFamily="34" charset="-122"/>
                <a:cs typeface="Calibri" pitchFamily="34" charset="-120"/>
              </a:rPr>
              <a:t>the last question, found by measurement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VERIFICATION, PART TWO</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A check that needs no answer key</a:t>
            </a:r>
            <a:endParaRPr lang="en-US" sz="3200" dirty="0"/>
          </a:p>
        </p:txBody>
      </p:sp>
      <p:sp>
        <p:nvSpPr>
          <p:cNvPr id="4" name="Text 2"/>
          <p:cNvSpPr/>
          <p:nvPr/>
        </p:nvSpPr>
        <p:spPr>
          <a:xfrm>
            <a:off x="566928" y="1737360"/>
            <a:ext cx="11064240" cy="731520"/>
          </a:xfrm>
          <a:prstGeom prst="rect">
            <a:avLst/>
          </a:prstGeom>
          <a:noFill/>
          <a:ln/>
        </p:spPr>
        <p:txBody>
          <a:bodyPr wrap="square" lIns="0" tIns="0" rIns="0" bIns="0" rtlCol="0" anchor="ctr"/>
          <a:lstStyle/>
          <a:p>
            <a:pPr indent="0" marL="0">
              <a:lnSpc>
                <a:spcPct val="120000"/>
              </a:lnSpc>
              <a:buNone/>
            </a:pPr>
            <a:r>
              <a:rPr lang="en-US" sz="1500" dirty="0">
                <a:solidFill>
                  <a:srgbClr val="0F1E2E"/>
                </a:solidFill>
                <a:latin typeface="Calibri" pitchFamily="34" charset="0"/>
                <a:ea typeface="Calibri" pitchFamily="34" charset="-122"/>
                <a:cs typeface="Calibri" pitchFamily="34" charset="-120"/>
              </a:rPr>
              <a:t>A question that names a package number is, by construction, about that package's client. So we can cross-check every resolved client against the package the question names — with no gold answers at all.</a:t>
            </a:r>
            <a:endParaRPr lang="en-US" sz="1500" dirty="0"/>
          </a:p>
        </p:txBody>
      </p:sp>
      <p:sp>
        <p:nvSpPr>
          <p:cNvPr id="5" name="Text 3"/>
          <p:cNvSpPr/>
          <p:nvPr/>
        </p:nvSpPr>
        <p:spPr>
          <a:xfrm>
            <a:off x="566928" y="2560320"/>
            <a:ext cx="11064240" cy="320040"/>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It found three confident wrong answers, all one failure mode:</a:t>
            </a:r>
            <a:endParaRPr lang="en-US" sz="1400" dirty="0"/>
          </a:p>
        </p:txBody>
      </p:sp>
      <p:sp>
        <p:nvSpPr>
          <p:cNvPr id="6" name="Text 4"/>
          <p:cNvSpPr/>
          <p:nvPr/>
        </p:nvSpPr>
        <p:spPr>
          <a:xfrm>
            <a:off x="566928" y="2971800"/>
            <a:ext cx="3383280" cy="274320"/>
          </a:xfrm>
          <a:prstGeom prst="rect">
            <a:avLst/>
          </a:prstGeom>
          <a:noFill/>
          <a:ln/>
        </p:spPr>
        <p:txBody>
          <a:bodyPr wrap="square" lIns="0" tIns="0" rIns="0" bIns="0" rtlCol="0" anchor="ctr"/>
          <a:lstStyle/>
          <a:p>
            <a:pPr indent="0" marL="0">
              <a:buNone/>
            </a:pPr>
            <a:r>
              <a:rPr lang="en-US" sz="1000" b="1" spc="100" kern="0" dirty="0">
                <a:solidFill>
                  <a:srgbClr val="F2A104"/>
                </a:solidFill>
                <a:latin typeface="Calibri" pitchFamily="34" charset="0"/>
                <a:ea typeface="Calibri" pitchFamily="34" charset="-122"/>
                <a:cs typeface="Calibri" pitchFamily="34" charset="-120"/>
              </a:rPr>
              <a:t>QUESTION MENTIONS</a:t>
            </a:r>
            <a:endParaRPr lang="en-US" sz="1000" dirty="0"/>
          </a:p>
        </p:txBody>
      </p:sp>
      <p:sp>
        <p:nvSpPr>
          <p:cNvPr id="7" name="Text 5"/>
          <p:cNvSpPr/>
          <p:nvPr/>
        </p:nvSpPr>
        <p:spPr>
          <a:xfrm>
            <a:off x="4133088" y="2971800"/>
            <a:ext cx="2194560" cy="274320"/>
          </a:xfrm>
          <a:prstGeom prst="rect">
            <a:avLst/>
          </a:prstGeom>
          <a:noFill/>
          <a:ln/>
        </p:spPr>
        <p:txBody>
          <a:bodyPr wrap="square" lIns="0" tIns="0" rIns="0" bIns="0" rtlCol="0" anchor="ctr"/>
          <a:lstStyle/>
          <a:p>
            <a:pPr indent="0" marL="0">
              <a:buNone/>
            </a:pPr>
            <a:r>
              <a:rPr lang="en-US" sz="1000" b="1" spc="100" kern="0" dirty="0">
                <a:solidFill>
                  <a:srgbClr val="F2A104"/>
                </a:solidFill>
                <a:latin typeface="Calibri" pitchFamily="34" charset="0"/>
                <a:ea typeface="Calibri" pitchFamily="34" charset="-122"/>
                <a:cs typeface="Calibri" pitchFamily="34" charset="-120"/>
              </a:rPr>
              <a:t>LEAKED TOKEN</a:t>
            </a:r>
            <a:endParaRPr lang="en-US" sz="1000" dirty="0"/>
          </a:p>
        </p:txBody>
      </p:sp>
      <p:sp>
        <p:nvSpPr>
          <p:cNvPr id="8" name="Text 6"/>
          <p:cNvSpPr/>
          <p:nvPr/>
        </p:nvSpPr>
        <p:spPr>
          <a:xfrm>
            <a:off x="6510528" y="2971800"/>
            <a:ext cx="2560320" cy="274320"/>
          </a:xfrm>
          <a:prstGeom prst="rect">
            <a:avLst/>
          </a:prstGeom>
          <a:noFill/>
          <a:ln/>
        </p:spPr>
        <p:txBody>
          <a:bodyPr wrap="square" lIns="0" tIns="0" rIns="0" bIns="0" rtlCol="0" anchor="ctr"/>
          <a:lstStyle/>
          <a:p>
            <a:pPr indent="0" marL="0">
              <a:buNone/>
            </a:pPr>
            <a:r>
              <a:rPr lang="en-US" sz="1000" b="1" spc="100" kern="0" dirty="0">
                <a:solidFill>
                  <a:srgbClr val="F2A104"/>
                </a:solidFill>
                <a:latin typeface="Calibri" pitchFamily="34" charset="0"/>
                <a:ea typeface="Calibri" pitchFamily="34" charset="-122"/>
                <a:cs typeface="Calibri" pitchFamily="34" charset="-120"/>
              </a:rPr>
              <a:t>RESOLVED TO</a:t>
            </a:r>
            <a:endParaRPr lang="en-US" sz="1000" dirty="0"/>
          </a:p>
        </p:txBody>
      </p:sp>
      <p:sp>
        <p:nvSpPr>
          <p:cNvPr id="9" name="Text 7"/>
          <p:cNvSpPr/>
          <p:nvPr/>
        </p:nvSpPr>
        <p:spPr>
          <a:xfrm>
            <a:off x="9253728" y="2971800"/>
            <a:ext cx="2743200" cy="274320"/>
          </a:xfrm>
          <a:prstGeom prst="rect">
            <a:avLst/>
          </a:prstGeom>
          <a:noFill/>
          <a:ln/>
        </p:spPr>
        <p:txBody>
          <a:bodyPr wrap="square" lIns="0" tIns="0" rIns="0" bIns="0" rtlCol="0" anchor="ctr"/>
          <a:lstStyle/>
          <a:p>
            <a:pPr indent="0" marL="0">
              <a:buNone/>
            </a:pPr>
            <a:r>
              <a:rPr lang="en-US" sz="1000" b="1" spc="100" kern="0" dirty="0">
                <a:solidFill>
                  <a:srgbClr val="F2A104"/>
                </a:solidFill>
                <a:latin typeface="Calibri" pitchFamily="34" charset="0"/>
                <a:ea typeface="Calibri" pitchFamily="34" charset="-122"/>
                <a:cs typeface="Calibri" pitchFamily="34" charset="-120"/>
              </a:rPr>
              <a:t>SHOULD BE</a:t>
            </a:r>
            <a:endParaRPr lang="en-US" sz="1000" dirty="0"/>
          </a:p>
        </p:txBody>
      </p:sp>
      <p:sp>
        <p:nvSpPr>
          <p:cNvPr id="10" name="Shape 8"/>
          <p:cNvSpPr/>
          <p:nvPr/>
        </p:nvSpPr>
        <p:spPr>
          <a:xfrm>
            <a:off x="566928" y="3264408"/>
            <a:ext cx="11064240" cy="566928"/>
          </a:xfrm>
          <a:prstGeom prst="rect">
            <a:avLst/>
          </a:prstGeom>
          <a:solidFill>
            <a:srgbClr val="F4F6F8"/>
          </a:solidFill>
          <a:ln/>
        </p:spPr>
      </p:sp>
      <p:sp>
        <p:nvSpPr>
          <p:cNvPr id="11" name="Text 9"/>
          <p:cNvSpPr/>
          <p:nvPr/>
        </p:nvSpPr>
        <p:spPr>
          <a:xfrm>
            <a:off x="640080" y="3310128"/>
            <a:ext cx="338328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“Highway Construction — Pkg-77”</a:t>
            </a:r>
            <a:endParaRPr lang="en-US" sz="1150" dirty="0"/>
          </a:p>
        </p:txBody>
      </p:sp>
      <p:sp>
        <p:nvSpPr>
          <p:cNvPr id="12" name="Text 10"/>
          <p:cNvSpPr/>
          <p:nvPr/>
        </p:nvSpPr>
        <p:spPr>
          <a:xfrm>
            <a:off x="4133088" y="3310128"/>
            <a:ext cx="2194560" cy="475488"/>
          </a:xfrm>
          <a:prstGeom prst="rect">
            <a:avLst/>
          </a:prstGeom>
          <a:noFill/>
          <a:ln/>
        </p:spPr>
        <p:txBody>
          <a:bodyPr wrap="square" lIns="0" tIns="0" rIns="0" bIns="0" rtlCol="0" anchor="ctr"/>
          <a:lstStyle/>
          <a:p>
            <a:pPr indent="0" marL="0">
              <a:buNone/>
            </a:pPr>
            <a:r>
              <a:rPr lang="en-US" sz="1150" b="1" dirty="0">
                <a:solidFill>
                  <a:srgbClr val="B4453C"/>
                </a:solidFill>
                <a:latin typeface="Courier New" pitchFamily="34" charset="0"/>
                <a:ea typeface="Courier New" pitchFamily="34" charset="-122"/>
                <a:cs typeface="Courier New" pitchFamily="34" charset="-120"/>
              </a:rPr>
              <a:t>construction</a:t>
            </a:r>
            <a:endParaRPr lang="en-US" sz="1150" dirty="0"/>
          </a:p>
        </p:txBody>
      </p:sp>
      <p:sp>
        <p:nvSpPr>
          <p:cNvPr id="13" name="Text 11"/>
          <p:cNvSpPr/>
          <p:nvPr/>
        </p:nvSpPr>
        <p:spPr>
          <a:xfrm>
            <a:off x="6510528" y="3310128"/>
            <a:ext cx="256032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Lakshya Engineering &amp; Construction</a:t>
            </a:r>
            <a:endParaRPr lang="en-US" sz="1150" dirty="0"/>
          </a:p>
        </p:txBody>
      </p:sp>
      <p:sp>
        <p:nvSpPr>
          <p:cNvPr id="14" name="Text 12"/>
          <p:cNvSpPr/>
          <p:nvPr/>
        </p:nvSpPr>
        <p:spPr>
          <a:xfrm>
            <a:off x="9253728" y="3310128"/>
            <a:ext cx="274320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Arunodaya Infrastructure</a:t>
            </a:r>
            <a:endParaRPr lang="en-US" sz="1150" dirty="0"/>
          </a:p>
        </p:txBody>
      </p:sp>
      <p:sp>
        <p:nvSpPr>
          <p:cNvPr id="15" name="Text 13"/>
          <p:cNvSpPr/>
          <p:nvPr/>
        </p:nvSpPr>
        <p:spPr>
          <a:xfrm>
            <a:off x="640080" y="3877056"/>
            <a:ext cx="338328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“Highway Construction — Pkg-91”</a:t>
            </a:r>
            <a:endParaRPr lang="en-US" sz="1150" dirty="0"/>
          </a:p>
        </p:txBody>
      </p:sp>
      <p:sp>
        <p:nvSpPr>
          <p:cNvPr id="16" name="Text 14"/>
          <p:cNvSpPr/>
          <p:nvPr/>
        </p:nvSpPr>
        <p:spPr>
          <a:xfrm>
            <a:off x="4133088" y="3877056"/>
            <a:ext cx="2194560" cy="475488"/>
          </a:xfrm>
          <a:prstGeom prst="rect">
            <a:avLst/>
          </a:prstGeom>
          <a:noFill/>
          <a:ln/>
        </p:spPr>
        <p:txBody>
          <a:bodyPr wrap="square" lIns="0" tIns="0" rIns="0" bIns="0" rtlCol="0" anchor="ctr"/>
          <a:lstStyle/>
          <a:p>
            <a:pPr indent="0" marL="0">
              <a:buNone/>
            </a:pPr>
            <a:r>
              <a:rPr lang="en-US" sz="1150" b="1" dirty="0">
                <a:solidFill>
                  <a:srgbClr val="B4453C"/>
                </a:solidFill>
                <a:latin typeface="Courier New" pitchFamily="34" charset="0"/>
                <a:ea typeface="Courier New" pitchFamily="34" charset="-122"/>
                <a:cs typeface="Courier New" pitchFamily="34" charset="-120"/>
              </a:rPr>
              <a:t>construction</a:t>
            </a:r>
            <a:endParaRPr lang="en-US" sz="1150" dirty="0"/>
          </a:p>
        </p:txBody>
      </p:sp>
      <p:sp>
        <p:nvSpPr>
          <p:cNvPr id="17" name="Text 15"/>
          <p:cNvSpPr/>
          <p:nvPr/>
        </p:nvSpPr>
        <p:spPr>
          <a:xfrm>
            <a:off x="6510528" y="3877056"/>
            <a:ext cx="256032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Lakshya Engineering &amp; Construction</a:t>
            </a:r>
            <a:endParaRPr lang="en-US" sz="1150" dirty="0"/>
          </a:p>
        </p:txBody>
      </p:sp>
      <p:sp>
        <p:nvSpPr>
          <p:cNvPr id="18" name="Text 16"/>
          <p:cNvSpPr/>
          <p:nvPr/>
        </p:nvSpPr>
        <p:spPr>
          <a:xfrm>
            <a:off x="9253728" y="3877056"/>
            <a:ext cx="274320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Subarnarekha Valley Corp</a:t>
            </a:r>
            <a:endParaRPr lang="en-US" sz="1150" dirty="0"/>
          </a:p>
        </p:txBody>
      </p:sp>
      <p:sp>
        <p:nvSpPr>
          <p:cNvPr id="19" name="Shape 17"/>
          <p:cNvSpPr/>
          <p:nvPr/>
        </p:nvSpPr>
        <p:spPr>
          <a:xfrm>
            <a:off x="566928" y="4398264"/>
            <a:ext cx="11064240" cy="566928"/>
          </a:xfrm>
          <a:prstGeom prst="rect">
            <a:avLst/>
          </a:prstGeom>
          <a:solidFill>
            <a:srgbClr val="F4F6F8"/>
          </a:solidFill>
          <a:ln/>
        </p:spPr>
      </p:sp>
      <p:sp>
        <p:nvSpPr>
          <p:cNvPr id="20" name="Text 18"/>
          <p:cNvSpPr/>
          <p:nvPr/>
        </p:nvSpPr>
        <p:spPr>
          <a:xfrm>
            <a:off x="640080" y="4443984"/>
            <a:ext cx="338328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“Steel Truss Bridge — Pkg-112”</a:t>
            </a:r>
            <a:endParaRPr lang="en-US" sz="1150" dirty="0"/>
          </a:p>
        </p:txBody>
      </p:sp>
      <p:sp>
        <p:nvSpPr>
          <p:cNvPr id="21" name="Text 19"/>
          <p:cNvSpPr/>
          <p:nvPr/>
        </p:nvSpPr>
        <p:spPr>
          <a:xfrm>
            <a:off x="4133088" y="4443984"/>
            <a:ext cx="2194560" cy="475488"/>
          </a:xfrm>
          <a:prstGeom prst="rect">
            <a:avLst/>
          </a:prstGeom>
          <a:noFill/>
          <a:ln/>
        </p:spPr>
        <p:txBody>
          <a:bodyPr wrap="square" lIns="0" tIns="0" rIns="0" bIns="0" rtlCol="0" anchor="ctr"/>
          <a:lstStyle/>
          <a:p>
            <a:pPr indent="0" marL="0">
              <a:buNone/>
            </a:pPr>
            <a:r>
              <a:rPr lang="en-US" sz="1150" b="1" dirty="0">
                <a:solidFill>
                  <a:srgbClr val="B4453C"/>
                </a:solidFill>
                <a:latin typeface="Courier New" pitchFamily="34" charset="0"/>
                <a:ea typeface="Courier New" pitchFamily="34" charset="-122"/>
                <a:cs typeface="Courier New" pitchFamily="34" charset="-120"/>
              </a:rPr>
              <a:t>steel</a:t>
            </a:r>
            <a:endParaRPr lang="en-US" sz="1150" dirty="0"/>
          </a:p>
        </p:txBody>
      </p:sp>
      <p:sp>
        <p:nvSpPr>
          <p:cNvPr id="22" name="Text 20"/>
          <p:cNvSpPr/>
          <p:nvPr/>
        </p:nvSpPr>
        <p:spPr>
          <a:xfrm>
            <a:off x="6510528" y="4443984"/>
            <a:ext cx="256032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Mahanadi Steel Corporation</a:t>
            </a:r>
            <a:endParaRPr lang="en-US" sz="1150" dirty="0"/>
          </a:p>
        </p:txBody>
      </p:sp>
      <p:sp>
        <p:nvSpPr>
          <p:cNvPr id="23" name="Text 21"/>
          <p:cNvSpPr/>
          <p:nvPr/>
        </p:nvSpPr>
        <p:spPr>
          <a:xfrm>
            <a:off x="9253728" y="4443984"/>
            <a:ext cx="2743200" cy="475488"/>
          </a:xfrm>
          <a:prstGeom prst="rect">
            <a:avLst/>
          </a:prstGeom>
          <a:noFill/>
          <a:ln/>
        </p:spPr>
        <p:txBody>
          <a:bodyPr wrap="square" lIns="0" tIns="0" rIns="0" bIns="0" rtlCol="0" anchor="ctr"/>
          <a:lstStyle/>
          <a:p>
            <a:pPr indent="0" marL="0">
              <a:buNone/>
            </a:pPr>
            <a:r>
              <a:rPr lang="en-US" sz="1150" dirty="0">
                <a:solidFill>
                  <a:srgbClr val="0F1E2E"/>
                </a:solidFill>
                <a:latin typeface="Calibri" pitchFamily="34" charset="0"/>
                <a:ea typeface="Calibri" pitchFamily="34" charset="-122"/>
                <a:cs typeface="Calibri" pitchFamily="34" charset="-120"/>
              </a:rPr>
              <a:t>Trishakti Power Generation</a:t>
            </a:r>
            <a:endParaRPr lang="en-US" sz="1150" dirty="0"/>
          </a:p>
        </p:txBody>
      </p:sp>
      <p:sp>
        <p:nvSpPr>
          <p:cNvPr id="24" name="Shape 22"/>
          <p:cNvSpPr/>
          <p:nvPr/>
        </p:nvSpPr>
        <p:spPr>
          <a:xfrm>
            <a:off x="566928" y="5120640"/>
            <a:ext cx="11064240" cy="960120"/>
          </a:xfrm>
          <a:prstGeom prst="roundRect">
            <a:avLst>
              <a:gd name="adj" fmla="val 7619"/>
            </a:avLst>
          </a:prstGeom>
          <a:solidFill>
            <a:srgbClr val="0F1E2E"/>
          </a:solidFill>
          <a:ln/>
        </p:spPr>
      </p:sp>
      <p:sp>
        <p:nvSpPr>
          <p:cNvPr id="25" name="Text 23"/>
          <p:cNvSpPr/>
          <p:nvPr/>
        </p:nvSpPr>
        <p:spPr>
          <a:xfrm>
            <a:off x="795528" y="5285232"/>
            <a:ext cx="10607040" cy="64008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Work titles are built from the same vocabulary as client names. One word lifted out of a project title identified the wrong client outright — at full confidence.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LAST 0.225</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At 99.775, one question was wrong and we could not see it</a:t>
            </a:r>
            <a:endParaRPr lang="en-US" sz="3200" dirty="0"/>
          </a:p>
        </p:txBody>
      </p:sp>
      <p:sp>
        <p:nvSpPr>
          <p:cNvPr id="4" name="Text 2"/>
          <p:cNvSpPr/>
          <p:nvPr/>
        </p:nvSpPr>
        <p:spPr>
          <a:xfrm>
            <a:off x="566928" y="1737360"/>
            <a:ext cx="5486400" cy="1234440"/>
          </a:xfrm>
          <a:prstGeom prst="rect">
            <a:avLst/>
          </a:prstGeom>
          <a:noFill/>
          <a:ln/>
        </p:spPr>
        <p:txBody>
          <a:bodyPr wrap="square" lIns="0" tIns="0" rIns="0" bIns="0" rtlCol="0" anchor="ctr"/>
          <a:lstStyle/>
          <a:p>
            <a:pPr indent="0" marL="0">
              <a:lnSpc>
                <a:spcPct val="120000"/>
              </a:lnSpc>
              <a:buNone/>
            </a:pPr>
            <a:r>
              <a:rPr lang="en-US" sz="1450" dirty="0">
                <a:solidFill>
                  <a:srgbClr val="0F1E2E"/>
                </a:solidFill>
                <a:latin typeface="Calibri" pitchFamily="34" charset="0"/>
                <a:ea typeface="Calibri" pitchFamily="34" charset="-122"/>
                <a:cs typeface="Calibri" pitchFamily="34" charset="-120"/>
              </a:rPr>
              <a:t>Every structural check was clean. Data corroborated across two routes. Every client justified by a named package. Every family with a published gold reproducing it. And still, 0.749 of one question's credit was missing.</a:t>
            </a:r>
            <a:endParaRPr lang="en-US" sz="1450" dirty="0"/>
          </a:p>
        </p:txBody>
      </p:sp>
      <p:sp>
        <p:nvSpPr>
          <p:cNvPr id="5" name="Shape 3"/>
          <p:cNvSpPr/>
          <p:nvPr/>
        </p:nvSpPr>
        <p:spPr>
          <a:xfrm>
            <a:off x="566928" y="3108960"/>
            <a:ext cx="5486400" cy="1371600"/>
          </a:xfrm>
          <a:prstGeom prst="roundRect">
            <a:avLst>
              <a:gd name="adj" fmla="val 5333"/>
            </a:avLst>
          </a:prstGeom>
          <a:solidFill>
            <a:srgbClr val="F2A104"/>
          </a:solidFill>
          <a:ln/>
        </p:spPr>
      </p:sp>
      <p:sp>
        <p:nvSpPr>
          <p:cNvPr id="6" name="Text 4"/>
          <p:cNvSpPr/>
          <p:nvPr/>
        </p:nvSpPr>
        <p:spPr>
          <a:xfrm>
            <a:off x="768096" y="3273552"/>
            <a:ext cx="5084064" cy="411480"/>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So we stopped debugging and started measuring.</a:t>
            </a:r>
            <a:endParaRPr lang="en-US" sz="1600" dirty="0"/>
          </a:p>
        </p:txBody>
      </p:sp>
      <p:sp>
        <p:nvSpPr>
          <p:cNvPr id="7" name="Text 5"/>
          <p:cNvSpPr/>
          <p:nvPr/>
        </p:nvSpPr>
        <p:spPr>
          <a:xfrm>
            <a:off x="768096" y="3675888"/>
            <a:ext cx="5084064" cy="731520"/>
          </a:xfrm>
          <a:prstGeom prst="rect">
            <a:avLst/>
          </a:prstGeom>
          <a:noFill/>
          <a:ln/>
        </p:spPr>
        <p:txBody>
          <a:bodyPr wrap="square" lIns="0" tIns="0" rIns="0" bIns="0" rtlCol="0" anchor="ctr"/>
          <a:lstStyle/>
          <a:p>
            <a:pPr indent="0" marL="0">
              <a:lnSpc>
                <a:spcPct val="115000"/>
              </a:lnSpc>
              <a:buNone/>
            </a:pPr>
            <a:r>
              <a:rPr lang="en-US" sz="1250" dirty="0">
                <a:solidFill>
                  <a:srgbClr val="6B4E08"/>
                </a:solidFill>
                <a:latin typeface="Calibri" pitchFamily="34" charset="0"/>
                <a:ea typeface="Calibri" pitchFamily="34" charset="-122"/>
                <a:cs typeface="Calibri" pitchFamily="34" charset="-120"/>
              </a:rPr>
              <a:t>The leaderboard returns a score to three decimals over 333 questions. That is an instrument: one question's credit is worth 0.300 points, and the resolution is 0.001.</a:t>
            </a:r>
            <a:endParaRPr lang="en-US" sz="1250" dirty="0"/>
          </a:p>
        </p:txBody>
      </p:sp>
      <p:sp>
        <p:nvSpPr>
          <p:cNvPr id="8" name="Text 6"/>
          <p:cNvSpPr/>
          <p:nvPr/>
        </p:nvSpPr>
        <p:spPr>
          <a:xfrm>
            <a:off x="6510528" y="1737360"/>
            <a:ext cx="5120640" cy="320040"/>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The deduction chain</a:t>
            </a:r>
            <a:endParaRPr lang="en-US" sz="1600" dirty="0"/>
          </a:p>
        </p:txBody>
      </p:sp>
      <p:sp>
        <p:nvSpPr>
          <p:cNvPr id="9" name="Shape 7"/>
          <p:cNvSpPr/>
          <p:nvPr/>
        </p:nvSpPr>
        <p:spPr>
          <a:xfrm>
            <a:off x="6510528" y="2194560"/>
            <a:ext cx="310896" cy="310896"/>
          </a:xfrm>
          <a:prstGeom prst="ellipse">
            <a:avLst/>
          </a:prstGeom>
          <a:solidFill>
            <a:srgbClr val="0F1E2E"/>
          </a:solidFill>
          <a:ln/>
        </p:spPr>
      </p:sp>
      <p:sp>
        <p:nvSpPr>
          <p:cNvPr id="10" name="Text 8"/>
          <p:cNvSpPr/>
          <p:nvPr/>
        </p:nvSpPr>
        <p:spPr>
          <a:xfrm>
            <a:off x="6510528" y="2194560"/>
            <a:ext cx="310896" cy="310896"/>
          </a:xfrm>
          <a:prstGeom prst="rect">
            <a:avLst/>
          </a:prstGeom>
          <a:noFill/>
          <a:ln/>
        </p:spPr>
        <p:txBody>
          <a:bodyPr wrap="square" lIns="0" tIns="0" rIns="0" bIns="0" rtlCol="0" anchor="ctr"/>
          <a:lstStyle/>
          <a:p>
            <a:pPr algn="ctr" indent="0" marL="0">
              <a:buNone/>
            </a:pPr>
            <a:r>
              <a:rPr lang="en-US" sz="1200" b="1" dirty="0">
                <a:solidFill>
                  <a:srgbClr val="F2A104"/>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6967728" y="2157984"/>
            <a:ext cx="4663440" cy="274320"/>
          </a:xfrm>
          <a:prstGeom prst="rect">
            <a:avLst/>
          </a:prstGeom>
          <a:noFill/>
          <a:ln/>
        </p:spPr>
        <p:txBody>
          <a:bodyPr wrap="square" lIns="0" tIns="0" rIns="0" bIns="0" rtlCol="0" anchor="ctr"/>
          <a:lstStyle/>
          <a:p>
            <a:pPr indent="0" marL="0">
              <a:buNone/>
            </a:pPr>
            <a:r>
              <a:rPr lang="en-US" sz="1350" b="1" dirty="0">
                <a:solidFill>
                  <a:srgbClr val="0F1E2E"/>
                </a:solidFill>
                <a:latin typeface="Calibri" pitchFamily="34" charset="0"/>
                <a:ea typeface="Calibri" pitchFamily="34" charset="-122"/>
                <a:cs typeface="Calibri" pitchFamily="34" charset="-120"/>
              </a:rPr>
              <a:t>Scale 134 answers by exactly 5%</a:t>
            </a:r>
            <a:endParaRPr lang="en-US" sz="1350" dirty="0"/>
          </a:p>
        </p:txBody>
      </p:sp>
      <p:sp>
        <p:nvSpPr>
          <p:cNvPr id="12" name="Text 10"/>
          <p:cNvSpPr/>
          <p:nvPr/>
        </p:nvSpPr>
        <p:spPr>
          <a:xfrm>
            <a:off x="6967728" y="2432304"/>
            <a:ext cx="4663440" cy="64008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A correct answer loses exactly 5% of its credit.</a:t>
            </a:r>
            <a:endParaRPr lang="en-US" sz="1150" dirty="0"/>
          </a:p>
        </p:txBody>
      </p:sp>
      <p:sp>
        <p:nvSpPr>
          <p:cNvPr id="13" name="Shape 11"/>
          <p:cNvSpPr/>
          <p:nvPr/>
        </p:nvSpPr>
        <p:spPr>
          <a:xfrm>
            <a:off x="6510528" y="3200400"/>
            <a:ext cx="310896" cy="310896"/>
          </a:xfrm>
          <a:prstGeom prst="ellipse">
            <a:avLst/>
          </a:prstGeom>
          <a:solidFill>
            <a:srgbClr val="0F1E2E"/>
          </a:solidFill>
          <a:ln/>
        </p:spPr>
      </p:sp>
      <p:sp>
        <p:nvSpPr>
          <p:cNvPr id="14" name="Text 12"/>
          <p:cNvSpPr/>
          <p:nvPr/>
        </p:nvSpPr>
        <p:spPr>
          <a:xfrm>
            <a:off x="6510528" y="3200400"/>
            <a:ext cx="310896" cy="310896"/>
          </a:xfrm>
          <a:prstGeom prst="rect">
            <a:avLst/>
          </a:prstGeom>
          <a:noFill/>
          <a:ln/>
        </p:spPr>
        <p:txBody>
          <a:bodyPr wrap="square" lIns="0" tIns="0" rIns="0" bIns="0" rtlCol="0" anchor="ctr"/>
          <a:lstStyle/>
          <a:p>
            <a:pPr algn="ctr" indent="0" marL="0">
              <a:buNone/>
            </a:pPr>
            <a:r>
              <a:rPr lang="en-US" sz="1200" b="1" dirty="0">
                <a:solidFill>
                  <a:srgbClr val="F2A104"/>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6967728" y="3163824"/>
            <a:ext cx="4663440" cy="274320"/>
          </a:xfrm>
          <a:prstGeom prst="rect">
            <a:avLst/>
          </a:prstGeom>
          <a:noFill/>
          <a:ln/>
        </p:spPr>
        <p:txBody>
          <a:bodyPr wrap="square" lIns="0" tIns="0" rIns="0" bIns="0" rtlCol="0" anchor="ctr"/>
          <a:lstStyle/>
          <a:p>
            <a:pPr indent="0" marL="0">
              <a:buNone/>
            </a:pPr>
            <a:r>
              <a:rPr lang="en-US" sz="1350" b="1" dirty="0">
                <a:solidFill>
                  <a:srgbClr val="0F1E2E"/>
                </a:solidFill>
                <a:latin typeface="Calibri" pitchFamily="34" charset="0"/>
                <a:ea typeface="Calibri" pitchFamily="34" charset="-122"/>
                <a:cs typeface="Calibri" pitchFamily="34" charset="-120"/>
              </a:rPr>
              <a:t>Score fell LESS than predicted</a:t>
            </a:r>
            <a:endParaRPr lang="en-US" sz="1350" dirty="0"/>
          </a:p>
        </p:txBody>
      </p:sp>
      <p:sp>
        <p:nvSpPr>
          <p:cNvPr id="16" name="Text 14"/>
          <p:cNvSpPr/>
          <p:nvPr/>
        </p:nvSpPr>
        <p:spPr>
          <a:xfrm>
            <a:off x="6967728" y="3438144"/>
            <a:ext cx="4663440" cy="64008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Inflating a value that sits below its gold walks it toward the gold. So the wrong answer is an UNDER-answer.</a:t>
            </a:r>
            <a:endParaRPr lang="en-US" sz="1150" dirty="0"/>
          </a:p>
        </p:txBody>
      </p:sp>
      <p:sp>
        <p:nvSpPr>
          <p:cNvPr id="17" name="Shape 15"/>
          <p:cNvSpPr/>
          <p:nvPr/>
        </p:nvSpPr>
        <p:spPr>
          <a:xfrm>
            <a:off x="6510528" y="4206240"/>
            <a:ext cx="310896" cy="310896"/>
          </a:xfrm>
          <a:prstGeom prst="ellipse">
            <a:avLst/>
          </a:prstGeom>
          <a:solidFill>
            <a:srgbClr val="0F1E2E"/>
          </a:solidFill>
          <a:ln/>
        </p:spPr>
      </p:sp>
      <p:sp>
        <p:nvSpPr>
          <p:cNvPr id="18" name="Text 16"/>
          <p:cNvSpPr/>
          <p:nvPr/>
        </p:nvSpPr>
        <p:spPr>
          <a:xfrm>
            <a:off x="6510528" y="4206240"/>
            <a:ext cx="310896" cy="310896"/>
          </a:xfrm>
          <a:prstGeom prst="rect">
            <a:avLst/>
          </a:prstGeom>
          <a:noFill/>
          <a:ln/>
        </p:spPr>
        <p:txBody>
          <a:bodyPr wrap="square" lIns="0" tIns="0" rIns="0" bIns="0" rtlCol="0" anchor="ctr"/>
          <a:lstStyle/>
          <a:p>
            <a:pPr algn="ctr" indent="0" marL="0">
              <a:buNone/>
            </a:pPr>
            <a:r>
              <a:rPr lang="en-US" sz="1200" b="1" dirty="0">
                <a:solidFill>
                  <a:srgbClr val="F2A104"/>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967728" y="4169664"/>
            <a:ext cx="4663440" cy="274320"/>
          </a:xfrm>
          <a:prstGeom prst="rect">
            <a:avLst/>
          </a:prstGeom>
          <a:noFill/>
          <a:ln/>
        </p:spPr>
        <p:txBody>
          <a:bodyPr wrap="square" lIns="0" tIns="0" rIns="0" bIns="0" rtlCol="0" anchor="ctr"/>
          <a:lstStyle/>
          <a:p>
            <a:pPr indent="0" marL="0">
              <a:buNone/>
            </a:pPr>
            <a:r>
              <a:rPr lang="en-US" sz="1350" b="1" dirty="0">
                <a:solidFill>
                  <a:srgbClr val="0F1E2E"/>
                </a:solidFill>
                <a:latin typeface="Calibri" pitchFamily="34" charset="0"/>
                <a:ea typeface="Calibri" pitchFamily="34" charset="-122"/>
                <a:cs typeface="Calibri" pitchFamily="34" charset="-120"/>
              </a:rPr>
              <a:t>Solve 2n − loss = deviation / d</a:t>
            </a:r>
            <a:endParaRPr lang="en-US" sz="1350" dirty="0"/>
          </a:p>
        </p:txBody>
      </p:sp>
      <p:sp>
        <p:nvSpPr>
          <p:cNvPr id="20" name="Text 18"/>
          <p:cNvSpPr/>
          <p:nvPr/>
        </p:nvSpPr>
        <p:spPr>
          <a:xfrm>
            <a:off x="6967728" y="4443984"/>
            <a:ext cx="4663440" cy="64008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n = 2 demands more loss than the whole set is missing. So n = 1: exactly one wrong answer.</a:t>
            </a:r>
            <a:endParaRPr lang="en-US" sz="1150" dirty="0"/>
          </a:p>
        </p:txBody>
      </p:sp>
      <p:sp>
        <p:nvSpPr>
          <p:cNvPr id="21" name="Shape 19"/>
          <p:cNvSpPr/>
          <p:nvPr/>
        </p:nvSpPr>
        <p:spPr>
          <a:xfrm>
            <a:off x="6510528" y="5212080"/>
            <a:ext cx="310896" cy="310896"/>
          </a:xfrm>
          <a:prstGeom prst="ellipse">
            <a:avLst/>
          </a:prstGeom>
          <a:solidFill>
            <a:srgbClr val="0F1E2E"/>
          </a:solidFill>
          <a:ln/>
        </p:spPr>
      </p:sp>
      <p:sp>
        <p:nvSpPr>
          <p:cNvPr id="22" name="Text 20"/>
          <p:cNvSpPr/>
          <p:nvPr/>
        </p:nvSpPr>
        <p:spPr>
          <a:xfrm>
            <a:off x="6510528" y="5212080"/>
            <a:ext cx="310896" cy="310896"/>
          </a:xfrm>
          <a:prstGeom prst="rect">
            <a:avLst/>
          </a:prstGeom>
          <a:noFill/>
          <a:ln/>
        </p:spPr>
        <p:txBody>
          <a:bodyPr wrap="square" lIns="0" tIns="0" rIns="0" bIns="0" rtlCol="0" anchor="ctr"/>
          <a:lstStyle/>
          <a:p>
            <a:pPr algn="ctr" indent="0" marL="0">
              <a:buNone/>
            </a:pPr>
            <a:r>
              <a:rPr lang="en-US" sz="1200" b="1" dirty="0">
                <a:solidFill>
                  <a:srgbClr val="F2A104"/>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967728" y="5175504"/>
            <a:ext cx="4663440" cy="274320"/>
          </a:xfrm>
          <a:prstGeom prst="rect">
            <a:avLst/>
          </a:prstGeom>
          <a:noFill/>
          <a:ln/>
        </p:spPr>
        <p:txBody>
          <a:bodyPr wrap="square" lIns="0" tIns="0" rIns="0" bIns="0" rtlCol="0" anchor="ctr"/>
          <a:lstStyle/>
          <a:p>
            <a:pPr indent="0" marL="0">
              <a:buNone/>
            </a:pPr>
            <a:r>
              <a:rPr lang="en-US" sz="1350" b="1" dirty="0">
                <a:solidFill>
                  <a:srgbClr val="0F1E2E"/>
                </a:solidFill>
                <a:latin typeface="Calibri" pitchFamily="34" charset="0"/>
                <a:ea typeface="Calibri" pitchFamily="34" charset="-122"/>
                <a:cs typeface="Calibri" pitchFamily="34" charset="-120"/>
              </a:rPr>
              <a:t>Its loss is the entire shortfall</a:t>
            </a:r>
            <a:endParaRPr lang="en-US" sz="1350" dirty="0"/>
          </a:p>
        </p:txBody>
      </p:sp>
      <p:sp>
        <p:nvSpPr>
          <p:cNvPr id="24" name="Text 22"/>
          <p:cNvSpPr/>
          <p:nvPr/>
        </p:nvSpPr>
        <p:spPr>
          <a:xfrm>
            <a:off x="6967728" y="5449824"/>
            <a:ext cx="4663440" cy="64008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0.74925 ± 0.0017 → the gold is 3.96–4.01× our answer.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THE LAST QUESTION</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HV-IC-0381</a:t>
            </a:r>
            <a:endParaRPr lang="en-US" sz="3200" dirty="0"/>
          </a:p>
        </p:txBody>
      </p:sp>
      <p:sp>
        <p:nvSpPr>
          <p:cNvPr id="4" name="Shape 2"/>
          <p:cNvSpPr/>
          <p:nvPr/>
        </p:nvSpPr>
        <p:spPr>
          <a:xfrm>
            <a:off x="566928" y="1691640"/>
            <a:ext cx="11064240" cy="868680"/>
          </a:xfrm>
          <a:prstGeom prst="roundRect">
            <a:avLst>
              <a:gd name="adj" fmla="val 8421"/>
            </a:avLst>
          </a:prstGeom>
          <a:solidFill>
            <a:srgbClr val="F4F6F8"/>
          </a:solidFill>
          <a:ln/>
        </p:spPr>
      </p:sp>
      <p:sp>
        <p:nvSpPr>
          <p:cNvPr id="5" name="Text 3"/>
          <p:cNvSpPr/>
          <p:nvPr/>
        </p:nvSpPr>
        <p:spPr>
          <a:xfrm>
            <a:off x="795528" y="1783080"/>
            <a:ext cx="10607040" cy="685800"/>
          </a:xfrm>
          <a:prstGeom prst="rect">
            <a:avLst/>
          </a:prstGeom>
          <a:noFill/>
          <a:ln/>
        </p:spPr>
        <p:txBody>
          <a:bodyPr wrap="square" lIns="0" tIns="0" rIns="0" bIns="0" rtlCol="0" anchor="ctr"/>
          <a:lstStyle/>
          <a:p>
            <a:pPr indent="0" marL="0">
              <a:buNone/>
            </a:pPr>
            <a:r>
              <a:rPr lang="en-US" sz="1700" i="1" dirty="0">
                <a:solidFill>
                  <a:srgbClr val="0F1E2E"/>
                </a:solidFill>
                <a:latin typeface="Cambria" pitchFamily="34" charset="0"/>
                <a:ea typeface="Cambria" pitchFamily="34" charset="-122"/>
                <a:cs typeface="Cambria" pitchFamily="34" charset="-120"/>
              </a:rPr>
              <a:t>“Arunodaya Infrastructure, submission due, what's the outstanding balance against the total contract value?”</a:t>
            </a:r>
            <a:endParaRPr lang="en-US" sz="1700" dirty="0"/>
          </a:p>
        </p:txBody>
      </p:sp>
      <p:sp>
        <p:nvSpPr>
          <p:cNvPr id="6" name="Text 4"/>
          <p:cNvSpPr/>
          <p:nvPr/>
        </p:nvSpPr>
        <p:spPr>
          <a:xfrm>
            <a:off x="566928" y="2788920"/>
            <a:ext cx="5486400" cy="1005840"/>
          </a:xfrm>
          <a:prstGeom prst="rect">
            <a:avLst/>
          </a:prstGeom>
          <a:noFill/>
          <a:ln/>
        </p:spPr>
        <p:txBody>
          <a:bodyPr wrap="square" lIns="0" tIns="0" rIns="0" bIns="0" rtlCol="0" anchor="ctr"/>
          <a:lstStyle/>
          <a:p>
            <a:pPr indent="0" marL="0">
              <a:lnSpc>
                <a:spcPct val="120000"/>
              </a:lnSpc>
              <a:buNone/>
            </a:pPr>
            <a:r>
              <a:rPr lang="en-US" sz="1400" dirty="0">
                <a:solidFill>
                  <a:srgbClr val="0F1E2E"/>
                </a:solidFill>
                <a:latin typeface="Calibri" pitchFamily="34" charset="0"/>
                <a:ea typeface="Calibri" pitchFamily="34" charset="-122"/>
                <a:cs typeface="Calibri" pitchFamily="34" charset="-120"/>
              </a:rPr>
              <a:t>We read “outstanding balance” and answered from the receivables ledger. But “against the total contract value” names the other operand: it is contract value minus billed, not invoiced minus received.</a:t>
            </a:r>
            <a:endParaRPr lang="en-US" sz="1400" dirty="0"/>
          </a:p>
        </p:txBody>
      </p:sp>
      <p:sp>
        <p:nvSpPr>
          <p:cNvPr id="7" name="Shape 5"/>
          <p:cNvSpPr/>
          <p:nvPr/>
        </p:nvSpPr>
        <p:spPr>
          <a:xfrm>
            <a:off x="566928" y="3931920"/>
            <a:ext cx="2651760" cy="1051560"/>
          </a:xfrm>
          <a:prstGeom prst="roundRect">
            <a:avLst>
              <a:gd name="adj" fmla="val 5217"/>
            </a:avLst>
          </a:prstGeom>
          <a:solidFill>
            <a:srgbClr val="F4F6F8"/>
          </a:solidFill>
          <a:ln/>
        </p:spPr>
      </p:sp>
      <p:sp>
        <p:nvSpPr>
          <p:cNvPr id="8" name="Text 6"/>
          <p:cNvSpPr/>
          <p:nvPr/>
        </p:nvSpPr>
        <p:spPr>
          <a:xfrm>
            <a:off x="566928" y="4041648"/>
            <a:ext cx="2651760" cy="411480"/>
          </a:xfrm>
          <a:prstGeom prst="rect">
            <a:avLst/>
          </a:prstGeom>
          <a:noFill/>
          <a:ln/>
        </p:spPr>
        <p:txBody>
          <a:bodyPr wrap="square" lIns="0" tIns="0" rIns="0" bIns="0" rtlCol="0" anchor="ctr"/>
          <a:lstStyle/>
          <a:p>
            <a:pPr algn="ctr" indent="0" marL="0">
              <a:buNone/>
            </a:pPr>
            <a:r>
              <a:rPr lang="en-US" sz="1900" b="1" dirty="0">
                <a:solidFill>
                  <a:srgbClr val="B4453C"/>
                </a:solidFill>
                <a:latin typeface="Cambria" pitchFamily="34" charset="0"/>
                <a:ea typeface="Cambria" pitchFamily="34" charset="-122"/>
                <a:cs typeface="Cambria" pitchFamily="34" charset="-120"/>
              </a:rPr>
              <a:t>258,859,089</a:t>
            </a:r>
            <a:endParaRPr lang="en-US" sz="1900" dirty="0"/>
          </a:p>
        </p:txBody>
      </p:sp>
      <p:sp>
        <p:nvSpPr>
          <p:cNvPr id="9" name="Text 7"/>
          <p:cNvSpPr/>
          <p:nvPr/>
        </p:nvSpPr>
        <p:spPr>
          <a:xfrm>
            <a:off x="658368" y="4480560"/>
            <a:ext cx="2468880" cy="411480"/>
          </a:xfrm>
          <a:prstGeom prst="rect">
            <a:avLst/>
          </a:prstGeom>
          <a:noFill/>
          <a:ln/>
        </p:spPr>
        <p:txBody>
          <a:bodyPr wrap="square" lIns="0" tIns="0" rIns="0" bIns="0" rtlCol="0" anchor="ctr"/>
          <a:lstStyle/>
          <a:p>
            <a:pPr algn="ctr" indent="0" marL="0">
              <a:buNone/>
            </a:pPr>
            <a:r>
              <a:rPr lang="en-US" sz="1050" dirty="0">
                <a:solidFill>
                  <a:srgbClr val="5A6B7A"/>
                </a:solidFill>
                <a:latin typeface="Calibri" pitchFamily="34" charset="0"/>
                <a:ea typeface="Calibri" pitchFamily="34" charset="-122"/>
                <a:cs typeface="Calibri" pitchFamily="34" charset="-120"/>
              </a:rPr>
              <a:t>ours (invoiced − received)</a:t>
            </a:r>
            <a:endParaRPr lang="en-US" sz="1050" dirty="0"/>
          </a:p>
        </p:txBody>
      </p:sp>
      <p:sp>
        <p:nvSpPr>
          <p:cNvPr id="10" name="Shape 8"/>
          <p:cNvSpPr/>
          <p:nvPr/>
        </p:nvSpPr>
        <p:spPr>
          <a:xfrm>
            <a:off x="3401568" y="3931920"/>
            <a:ext cx="2651760" cy="1051560"/>
          </a:xfrm>
          <a:prstGeom prst="roundRect">
            <a:avLst>
              <a:gd name="adj" fmla="val 5217"/>
            </a:avLst>
          </a:prstGeom>
          <a:solidFill>
            <a:srgbClr val="0F1E2E"/>
          </a:solidFill>
          <a:ln/>
        </p:spPr>
      </p:sp>
      <p:sp>
        <p:nvSpPr>
          <p:cNvPr id="11" name="Text 9"/>
          <p:cNvSpPr/>
          <p:nvPr/>
        </p:nvSpPr>
        <p:spPr>
          <a:xfrm>
            <a:off x="3401568" y="4041648"/>
            <a:ext cx="2651760" cy="411480"/>
          </a:xfrm>
          <a:prstGeom prst="rect">
            <a:avLst/>
          </a:prstGeom>
          <a:noFill/>
          <a:ln/>
        </p:spPr>
        <p:txBody>
          <a:bodyPr wrap="square" lIns="0" tIns="0" rIns="0" bIns="0" rtlCol="0" anchor="ctr"/>
          <a:lstStyle/>
          <a:p>
            <a:pPr algn="ctr" indent="0" marL="0">
              <a:buNone/>
            </a:pPr>
            <a:r>
              <a:rPr lang="en-US" sz="1900" b="1" dirty="0">
                <a:solidFill>
                  <a:srgbClr val="F2A104"/>
                </a:solidFill>
                <a:latin typeface="Cambria" pitchFamily="34" charset="0"/>
                <a:ea typeface="Cambria" pitchFamily="34" charset="-122"/>
                <a:cs typeface="Cambria" pitchFamily="34" charset="-120"/>
              </a:rPr>
              <a:t>1,033,673,040</a:t>
            </a:r>
            <a:endParaRPr lang="en-US" sz="1900" dirty="0"/>
          </a:p>
        </p:txBody>
      </p:sp>
      <p:sp>
        <p:nvSpPr>
          <p:cNvPr id="12" name="Text 10"/>
          <p:cNvSpPr/>
          <p:nvPr/>
        </p:nvSpPr>
        <p:spPr>
          <a:xfrm>
            <a:off x="3493008" y="4480560"/>
            <a:ext cx="2468880" cy="411480"/>
          </a:xfrm>
          <a:prstGeom prst="rect">
            <a:avLst/>
          </a:prstGeom>
          <a:noFill/>
          <a:ln/>
        </p:spPr>
        <p:txBody>
          <a:bodyPr wrap="square" lIns="0" tIns="0" rIns="0" bIns="0" rtlCol="0" anchor="ctr"/>
          <a:lstStyle/>
          <a:p>
            <a:pPr algn="ctr" indent="0" marL="0">
              <a:buNone/>
            </a:pPr>
            <a:r>
              <a:rPr lang="en-US" sz="1050" dirty="0">
                <a:solidFill>
                  <a:srgbClr val="B9C7D2"/>
                </a:solidFill>
                <a:latin typeface="Calibri" pitchFamily="34" charset="0"/>
                <a:ea typeface="Calibri" pitchFamily="34" charset="-122"/>
                <a:cs typeface="Calibri" pitchFamily="34" charset="-120"/>
              </a:rPr>
              <a:t>correct (awarded − invoiced)</a:t>
            </a:r>
            <a:endParaRPr lang="en-US" sz="1050" dirty="0"/>
          </a:p>
        </p:txBody>
      </p:sp>
      <p:sp>
        <p:nvSpPr>
          <p:cNvPr id="13" name="Text 11"/>
          <p:cNvSpPr/>
          <p:nvPr/>
        </p:nvSpPr>
        <p:spPr>
          <a:xfrm>
            <a:off x="566928" y="5166360"/>
            <a:ext cx="5486400" cy="365760"/>
          </a:xfrm>
          <a:prstGeom prst="rect">
            <a:avLst/>
          </a:prstGeom>
          <a:noFill/>
          <a:ln/>
        </p:spPr>
        <p:txBody>
          <a:bodyPr wrap="square" lIns="0" tIns="0" rIns="0" bIns="0" rtlCol="0" anchor="ctr"/>
          <a:lstStyle/>
          <a:p>
            <a:pPr indent="0" marL="0">
              <a:buNone/>
            </a:pPr>
            <a:r>
              <a:rPr lang="en-US" sz="1300" b="1" dirty="0">
                <a:solidFill>
                  <a:srgbClr val="3E8E5A"/>
                </a:solidFill>
                <a:latin typeface="Courier New" pitchFamily="34" charset="0"/>
                <a:ea typeface="Courier New" pitchFamily="34" charset="-122"/>
                <a:cs typeface="Courier New" pitchFamily="34" charset="-120"/>
              </a:rPr>
              <a:t>ratio  3.99319       predicted band  3.962 – 4.014</a:t>
            </a:r>
            <a:endParaRPr lang="en-US" sz="1300" dirty="0"/>
          </a:p>
        </p:txBody>
      </p:sp>
      <p:sp>
        <p:nvSpPr>
          <p:cNvPr id="14" name="Text 12"/>
          <p:cNvSpPr/>
          <p:nvPr/>
        </p:nvSpPr>
        <p:spPr>
          <a:xfrm>
            <a:off x="6510528" y="2788920"/>
            <a:ext cx="5120640" cy="320040"/>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Three independent confirmations</a:t>
            </a:r>
            <a:endParaRPr lang="en-US" sz="1500" dirty="0"/>
          </a:p>
        </p:txBody>
      </p:sp>
      <p:sp>
        <p:nvSpPr>
          <p:cNvPr id="15" name="Shape 13"/>
          <p:cNvSpPr/>
          <p:nvPr/>
        </p:nvSpPr>
        <p:spPr>
          <a:xfrm>
            <a:off x="6510528" y="3154680"/>
            <a:ext cx="384048" cy="384048"/>
          </a:xfrm>
          <a:prstGeom prst="ellipse">
            <a:avLst/>
          </a:prstGeom>
          <a:solidFill>
            <a:srgbClr val="F2A104"/>
          </a:solidFill>
          <a:ln/>
        </p:spPr>
      </p:sp>
      <p:sp>
        <p:nvSpPr>
          <p:cNvPr id="16" name="Text 14"/>
          <p:cNvSpPr/>
          <p:nvPr/>
        </p:nvSpPr>
        <p:spPr>
          <a:xfrm>
            <a:off x="6510528" y="315468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1</a:t>
            </a:r>
            <a:endParaRPr lang="en-US" sz="1500" dirty="0"/>
          </a:p>
        </p:txBody>
      </p:sp>
      <p:sp>
        <p:nvSpPr>
          <p:cNvPr id="17" name="Text 15"/>
          <p:cNvSpPr/>
          <p:nvPr/>
        </p:nvSpPr>
        <p:spPr>
          <a:xfrm>
            <a:off x="7077456" y="3127248"/>
            <a:ext cx="455371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The sentence itself</a:t>
            </a:r>
            <a:endParaRPr lang="en-US" sz="1600" dirty="0"/>
          </a:p>
        </p:txBody>
      </p:sp>
      <p:sp>
        <p:nvSpPr>
          <p:cNvPr id="18" name="Text 16"/>
          <p:cNvSpPr/>
          <p:nvPr/>
        </p:nvSpPr>
        <p:spPr>
          <a:xfrm>
            <a:off x="7077456" y="3429000"/>
            <a:ext cx="455371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The awarded operand is named; the billed one is implicit — which is exactly why the rule wanting both named missed it.</a:t>
            </a:r>
            <a:endParaRPr lang="en-US" sz="1350" dirty="0"/>
          </a:p>
        </p:txBody>
      </p:sp>
      <p:sp>
        <p:nvSpPr>
          <p:cNvPr id="19" name="Shape 17"/>
          <p:cNvSpPr/>
          <p:nvPr/>
        </p:nvSpPr>
        <p:spPr>
          <a:xfrm>
            <a:off x="6510528" y="4206240"/>
            <a:ext cx="384048" cy="384048"/>
          </a:xfrm>
          <a:prstGeom prst="ellipse">
            <a:avLst/>
          </a:prstGeom>
          <a:solidFill>
            <a:srgbClr val="F2A104"/>
          </a:solidFill>
          <a:ln/>
        </p:spPr>
      </p:sp>
      <p:sp>
        <p:nvSpPr>
          <p:cNvPr id="20" name="Text 18"/>
          <p:cNvSpPr/>
          <p:nvPr/>
        </p:nvSpPr>
        <p:spPr>
          <a:xfrm>
            <a:off x="6510528" y="420624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2</a:t>
            </a:r>
            <a:endParaRPr lang="en-US" sz="1500" dirty="0"/>
          </a:p>
        </p:txBody>
      </p:sp>
      <p:sp>
        <p:nvSpPr>
          <p:cNvPr id="21" name="Text 19"/>
          <p:cNvSpPr/>
          <p:nvPr/>
        </p:nvSpPr>
        <p:spPr>
          <a:xfrm>
            <a:off x="7077456" y="4178808"/>
            <a:ext cx="455371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The family census</a:t>
            </a:r>
            <a:endParaRPr lang="en-US" sz="1600" dirty="0"/>
          </a:p>
        </p:txBody>
      </p:sp>
      <p:sp>
        <p:nvSpPr>
          <p:cNvPr id="22" name="Text 20"/>
          <p:cNvSpPr/>
          <p:nvPr/>
        </p:nvSpPr>
        <p:spPr>
          <a:xfrm>
            <a:off x="7077456" y="4480560"/>
            <a:ext cx="455371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Receivable balances held 25 questions across only 24 clients, one client twice. Moving this one leaves exactly one per client.</a:t>
            </a:r>
            <a:endParaRPr lang="en-US" sz="1350" dirty="0"/>
          </a:p>
        </p:txBody>
      </p:sp>
      <p:sp>
        <p:nvSpPr>
          <p:cNvPr id="23" name="Shape 21"/>
          <p:cNvSpPr/>
          <p:nvPr/>
        </p:nvSpPr>
        <p:spPr>
          <a:xfrm>
            <a:off x="6510528" y="5257800"/>
            <a:ext cx="384048" cy="384048"/>
          </a:xfrm>
          <a:prstGeom prst="ellipse">
            <a:avLst/>
          </a:prstGeom>
          <a:solidFill>
            <a:srgbClr val="F2A104"/>
          </a:solidFill>
          <a:ln/>
        </p:spPr>
      </p:sp>
      <p:sp>
        <p:nvSpPr>
          <p:cNvPr id="24" name="Text 22"/>
          <p:cNvSpPr/>
          <p:nvPr/>
        </p:nvSpPr>
        <p:spPr>
          <a:xfrm>
            <a:off x="6510528" y="5257800"/>
            <a:ext cx="384048" cy="384048"/>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3</a:t>
            </a:r>
            <a:endParaRPr lang="en-US" sz="1500" dirty="0"/>
          </a:p>
        </p:txBody>
      </p:sp>
      <p:sp>
        <p:nvSpPr>
          <p:cNvPr id="25" name="Text 23"/>
          <p:cNvSpPr/>
          <p:nvPr/>
        </p:nvSpPr>
        <p:spPr>
          <a:xfrm>
            <a:off x="7077456" y="5230368"/>
            <a:ext cx="4553712" cy="292608"/>
          </a:xfrm>
          <a:prstGeom prst="rect">
            <a:avLst/>
          </a:prstGeom>
          <a:noFill/>
          <a:ln/>
        </p:spPr>
        <p:txBody>
          <a:bodyPr wrap="square" lIns="0" tIns="0" rIns="0" bIns="0" rtlCol="0" anchor="ctr"/>
          <a:lstStyle/>
          <a:p>
            <a:pPr indent="0" marL="0">
              <a:buNone/>
            </a:pPr>
            <a:r>
              <a:rPr lang="en-US" sz="1600" b="1" dirty="0">
                <a:solidFill>
                  <a:srgbClr val="0F1E2E"/>
                </a:solidFill>
                <a:latin typeface="Calibri" pitchFamily="34" charset="0"/>
                <a:ea typeface="Calibri" pitchFamily="34" charset="-122"/>
                <a:cs typeface="Calibri" pitchFamily="34" charset="-120"/>
              </a:rPr>
              <a:t>The measured deviation</a:t>
            </a:r>
            <a:endParaRPr lang="en-US" sz="1600" dirty="0"/>
          </a:p>
        </p:txBody>
      </p:sp>
      <p:sp>
        <p:nvSpPr>
          <p:cNvPr id="26" name="Text 24"/>
          <p:cNvSpPr/>
          <p:nvPr/>
        </p:nvSpPr>
        <p:spPr>
          <a:xfrm>
            <a:off x="7077456" y="5532120"/>
            <a:ext cx="4553712" cy="868680"/>
          </a:xfrm>
          <a:prstGeom prst="rect">
            <a:avLst/>
          </a:prstGeom>
          <a:noFill/>
          <a:ln/>
        </p:spPr>
        <p:txBody>
          <a:bodyPr wrap="square" lIns="0" tIns="0" rIns="0" bIns="0" rtlCol="0" anchor="ctr"/>
          <a:lstStyle/>
          <a:p>
            <a:pPr indent="0" marL="0">
              <a:lnSpc>
                <a:spcPct val="115000"/>
              </a:lnSpc>
              <a:buNone/>
            </a:pPr>
            <a:r>
              <a:rPr lang="en-US" sz="1350" dirty="0">
                <a:solidFill>
                  <a:srgbClr val="5A6B7A"/>
                </a:solidFill>
                <a:latin typeface="Calibri" pitchFamily="34" charset="0"/>
                <a:ea typeface="Calibri" pitchFamily="34" charset="-122"/>
                <a:cs typeface="Calibri" pitchFamily="34" charset="-120"/>
              </a:rPr>
              <a:t>0.06331 against 0.0625 predicted — inside the noise.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VERIFICATION</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What makes the result trustworthy rather than lucky</a:t>
            </a:r>
            <a:endParaRPr lang="en-US" sz="3200" dirty="0"/>
          </a:p>
        </p:txBody>
      </p:sp>
      <p:sp>
        <p:nvSpPr>
          <p:cNvPr id="4" name="Shape 2"/>
          <p:cNvSpPr/>
          <p:nvPr/>
        </p:nvSpPr>
        <p:spPr>
          <a:xfrm>
            <a:off x="566928" y="1819656"/>
            <a:ext cx="237744" cy="237744"/>
          </a:xfrm>
          <a:prstGeom prst="ellipse">
            <a:avLst/>
          </a:prstGeom>
          <a:solidFill>
            <a:srgbClr val="3E8E5A"/>
          </a:solidFill>
          <a:ln/>
        </p:spPr>
      </p:sp>
      <p:sp>
        <p:nvSpPr>
          <p:cNvPr id="5" name="Text 3"/>
          <p:cNvSpPr/>
          <p:nvPr/>
        </p:nvSpPr>
        <p:spPr>
          <a:xfrm>
            <a:off x="566928" y="1819656"/>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950976" y="1783080"/>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21 published golds</a:t>
            </a:r>
            <a:endParaRPr lang="en-US" sz="1400" dirty="0"/>
          </a:p>
        </p:txBody>
      </p:sp>
      <p:sp>
        <p:nvSpPr>
          <p:cNvPr id="7" name="Text 5"/>
          <p:cNvSpPr/>
          <p:nvPr/>
        </p:nvSpPr>
        <p:spPr>
          <a:xfrm>
            <a:off x="4087368" y="1764792"/>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the worked samples, end to end</a:t>
            </a:r>
            <a:endParaRPr lang="en-US" sz="1150" dirty="0"/>
          </a:p>
        </p:txBody>
      </p:sp>
      <p:sp>
        <p:nvSpPr>
          <p:cNvPr id="8" name="Shape 6"/>
          <p:cNvSpPr/>
          <p:nvPr/>
        </p:nvSpPr>
        <p:spPr>
          <a:xfrm>
            <a:off x="566928" y="2423160"/>
            <a:ext cx="237744" cy="237744"/>
          </a:xfrm>
          <a:prstGeom prst="ellipse">
            <a:avLst/>
          </a:prstGeom>
          <a:solidFill>
            <a:srgbClr val="3E8E5A"/>
          </a:solidFill>
          <a:ln/>
        </p:spPr>
      </p:sp>
      <p:sp>
        <p:nvSpPr>
          <p:cNvPr id="9" name="Text 7"/>
          <p:cNvSpPr/>
          <p:nvPr/>
        </p:nvSpPr>
        <p:spPr>
          <a:xfrm>
            <a:off x="566928" y="2423160"/>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950976" y="2386584"/>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3 README answers</a:t>
            </a:r>
            <a:endParaRPr lang="en-US" sz="1400" dirty="0"/>
          </a:p>
        </p:txBody>
      </p:sp>
      <p:sp>
        <p:nvSpPr>
          <p:cNvPr id="11" name="Text 9"/>
          <p:cNvSpPr/>
          <p:nvPr/>
        </p:nvSpPr>
        <p:spPr>
          <a:xfrm>
            <a:off x="4087368" y="2368296"/>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real scored questions the dataset prints as a format example — they pinned three families the samples never touch</a:t>
            </a:r>
            <a:endParaRPr lang="en-US" sz="1150" dirty="0"/>
          </a:p>
        </p:txBody>
      </p:sp>
      <p:sp>
        <p:nvSpPr>
          <p:cNvPr id="12" name="Shape 10"/>
          <p:cNvSpPr/>
          <p:nvPr/>
        </p:nvSpPr>
        <p:spPr>
          <a:xfrm>
            <a:off x="566928" y="3026664"/>
            <a:ext cx="237744" cy="237744"/>
          </a:xfrm>
          <a:prstGeom prst="ellipse">
            <a:avLst/>
          </a:prstGeom>
          <a:solidFill>
            <a:srgbClr val="3E8E5A"/>
          </a:solidFill>
          <a:ln/>
        </p:spPr>
      </p:sp>
      <p:sp>
        <p:nvSpPr>
          <p:cNvPr id="13" name="Text 11"/>
          <p:cNvSpPr/>
          <p:nvPr/>
        </p:nvSpPr>
        <p:spPr>
          <a:xfrm>
            <a:off x="566928" y="3026664"/>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950976" y="2990088"/>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333 / 333 answered</a:t>
            </a:r>
            <a:endParaRPr lang="en-US" sz="1400" dirty="0"/>
          </a:p>
        </p:txBody>
      </p:sp>
      <p:sp>
        <p:nvSpPr>
          <p:cNvPr id="15" name="Text 13"/>
          <p:cNvSpPr/>
          <p:nvPr/>
        </p:nvSpPr>
        <p:spPr>
          <a:xfrm>
            <a:off x="4087368" y="2971800"/>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a blank scores zero; no question may return nothing</a:t>
            </a:r>
            <a:endParaRPr lang="en-US" sz="1150" dirty="0"/>
          </a:p>
        </p:txBody>
      </p:sp>
      <p:sp>
        <p:nvSpPr>
          <p:cNvPr id="16" name="Shape 14"/>
          <p:cNvSpPr/>
          <p:nvPr/>
        </p:nvSpPr>
        <p:spPr>
          <a:xfrm>
            <a:off x="566928" y="3630168"/>
            <a:ext cx="237744" cy="237744"/>
          </a:xfrm>
          <a:prstGeom prst="ellipse">
            <a:avLst/>
          </a:prstGeom>
          <a:solidFill>
            <a:srgbClr val="3E8E5A"/>
          </a:solidFill>
          <a:ln/>
        </p:spPr>
      </p:sp>
      <p:sp>
        <p:nvSpPr>
          <p:cNvPr id="17" name="Text 15"/>
          <p:cNvSpPr/>
          <p:nvPr/>
        </p:nvSpPr>
        <p:spPr>
          <a:xfrm>
            <a:off x="566928" y="3630168"/>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950976" y="3593592"/>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Package ↔ client agreement</a:t>
            </a:r>
            <a:endParaRPr lang="en-US" sz="1400" dirty="0"/>
          </a:p>
        </p:txBody>
      </p:sp>
      <p:sp>
        <p:nvSpPr>
          <p:cNvPr id="19" name="Text 17"/>
          <p:cNvSpPr/>
          <p:nvPr/>
        </p:nvSpPr>
        <p:spPr>
          <a:xfrm>
            <a:off x="4087368" y="3575304"/>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every resolved client matches the package the question names</a:t>
            </a:r>
            <a:endParaRPr lang="en-US" sz="1150" dirty="0"/>
          </a:p>
        </p:txBody>
      </p:sp>
      <p:sp>
        <p:nvSpPr>
          <p:cNvPr id="20" name="Shape 18"/>
          <p:cNvSpPr/>
          <p:nvPr/>
        </p:nvSpPr>
        <p:spPr>
          <a:xfrm>
            <a:off x="566928" y="4233672"/>
            <a:ext cx="237744" cy="237744"/>
          </a:xfrm>
          <a:prstGeom prst="ellipse">
            <a:avLst/>
          </a:prstGeom>
          <a:solidFill>
            <a:srgbClr val="3E8E5A"/>
          </a:solidFill>
          <a:ln/>
        </p:spPr>
      </p:sp>
      <p:sp>
        <p:nvSpPr>
          <p:cNvPr id="21" name="Text 19"/>
          <p:cNvSpPr/>
          <p:nvPr/>
        </p:nvSpPr>
        <p:spPr>
          <a:xfrm>
            <a:off x="566928" y="4233672"/>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950976" y="4197096"/>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Exclusion exactness</a:t>
            </a:r>
            <a:endParaRPr lang="en-US" sz="1400" dirty="0"/>
          </a:p>
        </p:txBody>
      </p:sp>
      <p:sp>
        <p:nvSpPr>
          <p:cNvPr id="23" name="Text 21"/>
          <p:cNvSpPr/>
          <p:nvPr/>
        </p:nvSpPr>
        <p:spPr>
          <a:xfrm>
            <a:off x="4087368" y="4178808"/>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an exclusion drops the named category and nothing else</a:t>
            </a:r>
            <a:endParaRPr lang="en-US" sz="1150" dirty="0"/>
          </a:p>
        </p:txBody>
      </p:sp>
      <p:sp>
        <p:nvSpPr>
          <p:cNvPr id="24" name="Shape 22"/>
          <p:cNvSpPr/>
          <p:nvPr/>
        </p:nvSpPr>
        <p:spPr>
          <a:xfrm>
            <a:off x="566928" y="4837176"/>
            <a:ext cx="237744" cy="237744"/>
          </a:xfrm>
          <a:prstGeom prst="ellipse">
            <a:avLst/>
          </a:prstGeom>
          <a:solidFill>
            <a:srgbClr val="3E8E5A"/>
          </a:solidFill>
          <a:ln/>
        </p:spPr>
      </p:sp>
      <p:sp>
        <p:nvSpPr>
          <p:cNvPr id="25" name="Text 23"/>
          <p:cNvSpPr/>
          <p:nvPr/>
        </p:nvSpPr>
        <p:spPr>
          <a:xfrm>
            <a:off x="566928" y="4837176"/>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950976" y="4800600"/>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Per-family census</a:t>
            </a:r>
            <a:endParaRPr lang="en-US" sz="1400" dirty="0"/>
          </a:p>
        </p:txBody>
      </p:sp>
      <p:sp>
        <p:nvSpPr>
          <p:cNvPr id="27" name="Text 25"/>
          <p:cNvSpPr/>
          <p:nvPr/>
        </p:nvSpPr>
        <p:spPr>
          <a:xfrm>
            <a:off x="4087368" y="4782312"/>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trips whenever any rule starts or stops firing</a:t>
            </a:r>
            <a:endParaRPr lang="en-US" sz="1150" dirty="0"/>
          </a:p>
        </p:txBody>
      </p:sp>
      <p:sp>
        <p:nvSpPr>
          <p:cNvPr id="28" name="Shape 26"/>
          <p:cNvSpPr/>
          <p:nvPr/>
        </p:nvSpPr>
        <p:spPr>
          <a:xfrm>
            <a:off x="566928" y="5440680"/>
            <a:ext cx="237744" cy="237744"/>
          </a:xfrm>
          <a:prstGeom prst="ellipse">
            <a:avLst/>
          </a:prstGeom>
          <a:solidFill>
            <a:srgbClr val="3E8E5A"/>
          </a:solidFill>
          <a:ln/>
        </p:spPr>
      </p:sp>
      <p:sp>
        <p:nvSpPr>
          <p:cNvPr id="29" name="Text 27"/>
          <p:cNvSpPr/>
          <p:nvPr/>
        </p:nvSpPr>
        <p:spPr>
          <a:xfrm>
            <a:off x="566928" y="5440680"/>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950976" y="5404104"/>
            <a:ext cx="3017520" cy="292608"/>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Source hygiene</a:t>
            </a:r>
            <a:endParaRPr lang="en-US" sz="1400" dirty="0"/>
          </a:p>
        </p:txBody>
      </p:sp>
      <p:sp>
        <p:nvSpPr>
          <p:cNvPr id="31" name="Text 29"/>
          <p:cNvSpPr/>
          <p:nvPr/>
        </p:nvSpPr>
        <p:spPr>
          <a:xfrm>
            <a:off x="4087368" y="5385816"/>
            <a:ext cx="3931920" cy="45720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no stray control bytes in any source file</a:t>
            </a:r>
            <a:endParaRPr lang="en-US" sz="1150" dirty="0"/>
          </a:p>
        </p:txBody>
      </p:sp>
      <p:sp>
        <p:nvSpPr>
          <p:cNvPr id="32" name="Shape 30"/>
          <p:cNvSpPr/>
          <p:nvPr/>
        </p:nvSpPr>
        <p:spPr>
          <a:xfrm>
            <a:off x="8430768" y="1783080"/>
            <a:ext cx="3200400" cy="2103120"/>
          </a:xfrm>
          <a:prstGeom prst="roundRect">
            <a:avLst>
              <a:gd name="adj" fmla="val 3478"/>
            </a:avLst>
          </a:prstGeom>
          <a:solidFill>
            <a:srgbClr val="0F1E2E"/>
          </a:solidFill>
          <a:ln/>
        </p:spPr>
      </p:sp>
      <p:sp>
        <p:nvSpPr>
          <p:cNvPr id="33" name="Text 31"/>
          <p:cNvSpPr/>
          <p:nvPr/>
        </p:nvSpPr>
        <p:spPr>
          <a:xfrm>
            <a:off x="8613648" y="1965960"/>
            <a:ext cx="2834640" cy="685800"/>
          </a:xfrm>
          <a:prstGeom prst="rect">
            <a:avLst/>
          </a:prstGeom>
          <a:noFill/>
          <a:ln/>
        </p:spPr>
        <p:txBody>
          <a:bodyPr wrap="square" lIns="0" tIns="0" rIns="0" bIns="0" rtlCol="0" anchor="ctr"/>
          <a:lstStyle/>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The census caught</a:t>
            </a:r>
            <a:endParaRPr lang="en-US" sz="1600" dirty="0"/>
          </a:p>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the last bug</a:t>
            </a:r>
            <a:endParaRPr lang="en-US" sz="1600" dirty="0"/>
          </a:p>
        </p:txBody>
      </p:sp>
      <p:sp>
        <p:nvSpPr>
          <p:cNvPr id="34" name="Text 32"/>
          <p:cNvSpPr/>
          <p:nvPr/>
        </p:nvSpPr>
        <p:spPr>
          <a:xfrm>
            <a:off x="8613648" y="2743200"/>
            <a:ext cx="2834640" cy="1005840"/>
          </a:xfrm>
          <a:prstGeom prst="rect">
            <a:avLst/>
          </a:prstGeom>
          <a:noFill/>
          <a:ln/>
        </p:spPr>
        <p:txBody>
          <a:bodyPr wrap="square" lIns="0" tIns="0" rIns="0" bIns="0" rtlCol="0" anchor="ctr"/>
          <a:lstStyle/>
          <a:p>
            <a:pPr indent="0" marL="0">
              <a:lnSpc>
                <a:spcPct val="115000"/>
              </a:lnSpc>
              <a:buNone/>
            </a:pPr>
            <a:r>
              <a:rPr lang="en-US" sz="1200" dirty="0">
                <a:solidFill>
                  <a:srgbClr val="B9C7D2"/>
                </a:solidFill>
                <a:latin typeface="Calibri" pitchFamily="34" charset="0"/>
                <a:ea typeface="Calibri" pitchFamily="34" charset="-122"/>
                <a:cs typeface="Calibri" pitchFamily="34" charset="-120"/>
              </a:rPr>
              <a:t>It failed the moment we reclassified HV-IC-0381 — exactly as designed. We updated it deliberately, with the reasoning recorded in the test.</a:t>
            </a:r>
            <a:endParaRPr lang="en-US" sz="1200" dirty="0"/>
          </a:p>
        </p:txBody>
      </p:sp>
      <p:sp>
        <p:nvSpPr>
          <p:cNvPr id="35" name="Shape 33"/>
          <p:cNvSpPr/>
          <p:nvPr/>
        </p:nvSpPr>
        <p:spPr>
          <a:xfrm>
            <a:off x="8430768" y="4069080"/>
            <a:ext cx="3200400" cy="1874520"/>
          </a:xfrm>
          <a:prstGeom prst="roundRect">
            <a:avLst>
              <a:gd name="adj" fmla="val 3902"/>
            </a:avLst>
          </a:prstGeom>
          <a:solidFill>
            <a:srgbClr val="F2A104"/>
          </a:solidFill>
          <a:ln/>
        </p:spPr>
      </p:sp>
      <p:sp>
        <p:nvSpPr>
          <p:cNvPr id="36" name="Text 34"/>
          <p:cNvSpPr/>
          <p:nvPr/>
        </p:nvSpPr>
        <p:spPr>
          <a:xfrm>
            <a:off x="8613648" y="4224528"/>
            <a:ext cx="2834640" cy="320040"/>
          </a:xfrm>
          <a:prstGeom prst="rect">
            <a:avLst/>
          </a:prstGeom>
          <a:noFill/>
          <a:ln/>
        </p:spPr>
        <p:txBody>
          <a:bodyPr wrap="square" lIns="0" tIns="0" rIns="0" bIns="0" rtlCol="0" anchor="ctr"/>
          <a:lstStyle/>
          <a:p>
            <a:pPr indent="0" marL="0">
              <a:buNone/>
            </a:pPr>
            <a:r>
              <a:rPr lang="en-US" sz="1400" b="1" dirty="0">
                <a:solidFill>
                  <a:srgbClr val="0F1E2E"/>
                </a:solidFill>
                <a:latin typeface="Calibri" pitchFamily="34" charset="0"/>
                <a:ea typeface="Calibri" pitchFamily="34" charset="-122"/>
                <a:cs typeface="Calibri" pitchFamily="34" charset="-120"/>
              </a:rPr>
              <a:t>The lesson we paid for</a:t>
            </a:r>
            <a:endParaRPr lang="en-US" sz="1400" dirty="0"/>
          </a:p>
        </p:txBody>
      </p:sp>
      <p:sp>
        <p:nvSpPr>
          <p:cNvPr id="37" name="Text 35"/>
          <p:cNvSpPr/>
          <p:nvPr/>
        </p:nvSpPr>
        <p:spPr>
          <a:xfrm>
            <a:off x="8613648" y="4572000"/>
            <a:ext cx="2834640" cy="1188720"/>
          </a:xfrm>
          <a:prstGeom prst="rect">
            <a:avLst/>
          </a:prstGeom>
          <a:noFill/>
          <a:ln/>
        </p:spPr>
        <p:txBody>
          <a:bodyPr wrap="square" lIns="0" tIns="0" rIns="0" bIns="0" rtlCol="0" anchor="ctr"/>
          <a:lstStyle/>
          <a:p>
            <a:pPr indent="0" marL="0">
              <a:lnSpc>
                <a:spcPct val="115000"/>
              </a:lnSpc>
              <a:buNone/>
            </a:pPr>
            <a:r>
              <a:rPr lang="en-US" sz="1200" dirty="0">
                <a:solidFill>
                  <a:srgbClr val="6B4E08"/>
                </a:solidFill>
                <a:latin typeface="Calibri" pitchFamily="34" charset="0"/>
                <a:ea typeface="Calibri" pitchFamily="34" charset="-122"/>
                <a:cs typeface="Calibri" pitchFamily="34" charset="-120"/>
              </a:rPr>
              <a:t>A test that asserts the same guess your code makes will always pass. Prefer invariants you can check WITHOUT an answer key.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TIMELINE AND TEAM</a:t>
            </a:r>
            <a:endParaRPr lang="en-US" sz="1200" dirty="0"/>
          </a:p>
        </p:txBody>
      </p:sp>
      <p:sp>
        <p:nvSpPr>
          <p:cNvPr id="3" name="Text 1"/>
          <p:cNvSpPr/>
          <p:nvPr/>
        </p:nvSpPr>
        <p:spPr>
          <a:xfrm>
            <a:off x="566928" y="676656"/>
            <a:ext cx="11057839" cy="685800"/>
          </a:xfrm>
          <a:prstGeom prst="rect">
            <a:avLst/>
          </a:prstGeom>
          <a:noFill/>
          <a:ln/>
        </p:spPr>
        <p:txBody>
          <a:bodyPr wrap="square" lIns="0" tIns="0" rIns="0" bIns="0" rtlCol="0" anchor="ctr"/>
          <a:lstStyle/>
          <a:p>
            <a:pPr indent="0" marL="0">
              <a:buNone/>
            </a:pPr>
            <a:r>
              <a:rPr lang="en-US" sz="3200" b="1" dirty="0">
                <a:solidFill>
                  <a:srgbClr val="0F1E2E"/>
                </a:solidFill>
                <a:latin typeface="Cambria" pitchFamily="34" charset="0"/>
                <a:ea typeface="Cambria" pitchFamily="34" charset="-122"/>
                <a:cs typeface="Cambria" pitchFamily="34" charset="-120"/>
              </a:rPr>
              <a:t>Five days, two people</a:t>
            </a:r>
            <a:endParaRPr lang="en-US" sz="3200" dirty="0"/>
          </a:p>
        </p:txBody>
      </p:sp>
      <p:sp>
        <p:nvSpPr>
          <p:cNvPr id="4" name="Text 2"/>
          <p:cNvSpPr/>
          <p:nvPr/>
        </p:nvSpPr>
        <p:spPr>
          <a:xfrm>
            <a:off x="566928" y="1783080"/>
            <a:ext cx="4754880" cy="256032"/>
          </a:xfrm>
          <a:prstGeom prst="rect">
            <a:avLst/>
          </a:prstGeom>
          <a:noFill/>
          <a:ln/>
        </p:spPr>
        <p:txBody>
          <a:bodyPr wrap="square" lIns="0" tIns="0" rIns="0" bIns="0" rtlCol="0" anchor="ctr"/>
          <a:lstStyle/>
          <a:p>
            <a:pPr indent="0" marL="0">
              <a:buNone/>
            </a:pPr>
            <a:r>
              <a:rPr lang="en-US" sz="1100" b="1" spc="150" kern="0" dirty="0">
                <a:solidFill>
                  <a:srgbClr val="F2A104"/>
                </a:solidFill>
                <a:latin typeface="Calibri" pitchFamily="34" charset="0"/>
                <a:ea typeface="Calibri" pitchFamily="34" charset="-122"/>
                <a:cs typeface="Calibri" pitchFamily="34" charset="-120"/>
              </a:rPr>
              <a:t>TIMELINE</a:t>
            </a:r>
            <a:endParaRPr lang="en-US" sz="1100" dirty="0"/>
          </a:p>
        </p:txBody>
      </p:sp>
      <p:sp>
        <p:nvSpPr>
          <p:cNvPr id="5" name="Shape 3"/>
          <p:cNvSpPr/>
          <p:nvPr/>
        </p:nvSpPr>
        <p:spPr>
          <a:xfrm>
            <a:off x="585216" y="2212848"/>
            <a:ext cx="182880" cy="182880"/>
          </a:xfrm>
          <a:prstGeom prst="ellipse">
            <a:avLst/>
          </a:prstGeom>
          <a:solidFill>
            <a:srgbClr val="2A5C7A"/>
          </a:solidFill>
          <a:ln/>
        </p:spPr>
      </p:sp>
      <p:sp>
        <p:nvSpPr>
          <p:cNvPr id="6" name="Shape 4"/>
          <p:cNvSpPr/>
          <p:nvPr/>
        </p:nvSpPr>
        <p:spPr>
          <a:xfrm>
            <a:off x="667512" y="2395728"/>
            <a:ext cx="18288" cy="365760"/>
          </a:xfrm>
          <a:prstGeom prst="rect">
            <a:avLst/>
          </a:prstGeom>
          <a:solidFill>
            <a:srgbClr val="D5DEE5"/>
          </a:solidFill>
          <a:ln/>
        </p:spPr>
      </p:sp>
      <p:sp>
        <p:nvSpPr>
          <p:cNvPr id="7" name="Text 5"/>
          <p:cNvSpPr/>
          <p:nvPr/>
        </p:nvSpPr>
        <p:spPr>
          <a:xfrm>
            <a:off x="932688" y="214884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9 Aug</a:t>
            </a:r>
            <a:endParaRPr lang="en-US" sz="1200" dirty="0"/>
          </a:p>
        </p:txBody>
      </p:sp>
      <p:sp>
        <p:nvSpPr>
          <p:cNvPr id="8" name="Text 6"/>
          <p:cNvSpPr/>
          <p:nvPr/>
        </p:nvSpPr>
        <p:spPr>
          <a:xfrm>
            <a:off x="2212848" y="214884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Extraction built. 25/25 on the published samples, end to end.</a:t>
            </a:r>
            <a:endParaRPr lang="en-US" sz="1150" dirty="0"/>
          </a:p>
        </p:txBody>
      </p:sp>
      <p:sp>
        <p:nvSpPr>
          <p:cNvPr id="9" name="Shape 7"/>
          <p:cNvSpPr/>
          <p:nvPr/>
        </p:nvSpPr>
        <p:spPr>
          <a:xfrm>
            <a:off x="585216" y="2761488"/>
            <a:ext cx="182880" cy="182880"/>
          </a:xfrm>
          <a:prstGeom prst="ellipse">
            <a:avLst/>
          </a:prstGeom>
          <a:solidFill>
            <a:srgbClr val="2A5C7A"/>
          </a:solidFill>
          <a:ln/>
        </p:spPr>
      </p:sp>
      <p:sp>
        <p:nvSpPr>
          <p:cNvPr id="10" name="Shape 8"/>
          <p:cNvSpPr/>
          <p:nvPr/>
        </p:nvSpPr>
        <p:spPr>
          <a:xfrm>
            <a:off x="667512" y="2944368"/>
            <a:ext cx="18288" cy="365760"/>
          </a:xfrm>
          <a:prstGeom prst="rect">
            <a:avLst/>
          </a:prstGeom>
          <a:solidFill>
            <a:srgbClr val="D5DEE5"/>
          </a:solidFill>
          <a:ln/>
        </p:spPr>
      </p:sp>
      <p:sp>
        <p:nvSpPr>
          <p:cNvPr id="11" name="Text 9"/>
          <p:cNvSpPr/>
          <p:nvPr/>
        </p:nvSpPr>
        <p:spPr>
          <a:xfrm>
            <a:off x="932688" y="269748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10 Aug</a:t>
            </a:r>
            <a:endParaRPr lang="en-US" sz="1200" dirty="0"/>
          </a:p>
        </p:txBody>
      </p:sp>
      <p:sp>
        <p:nvSpPr>
          <p:cNvPr id="12" name="Text 10"/>
          <p:cNvSpPr/>
          <p:nvPr/>
        </p:nvSpPr>
        <p:spPr>
          <a:xfrm>
            <a:off x="2212848" y="269748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Evaluation set drops — 333 questions, no answers.</a:t>
            </a:r>
            <a:endParaRPr lang="en-US" sz="1150" dirty="0"/>
          </a:p>
        </p:txBody>
      </p:sp>
      <p:sp>
        <p:nvSpPr>
          <p:cNvPr id="13" name="Shape 11"/>
          <p:cNvSpPr/>
          <p:nvPr/>
        </p:nvSpPr>
        <p:spPr>
          <a:xfrm>
            <a:off x="585216" y="3310128"/>
            <a:ext cx="182880" cy="182880"/>
          </a:xfrm>
          <a:prstGeom prst="ellipse">
            <a:avLst/>
          </a:prstGeom>
          <a:solidFill>
            <a:srgbClr val="2A5C7A"/>
          </a:solidFill>
          <a:ln/>
        </p:spPr>
      </p:sp>
      <p:sp>
        <p:nvSpPr>
          <p:cNvPr id="14" name="Shape 12"/>
          <p:cNvSpPr/>
          <p:nvPr/>
        </p:nvSpPr>
        <p:spPr>
          <a:xfrm>
            <a:off x="667512" y="3493008"/>
            <a:ext cx="18288" cy="365760"/>
          </a:xfrm>
          <a:prstGeom prst="rect">
            <a:avLst/>
          </a:prstGeom>
          <a:solidFill>
            <a:srgbClr val="D5DEE5"/>
          </a:solidFill>
          <a:ln/>
        </p:spPr>
      </p:sp>
      <p:sp>
        <p:nvSpPr>
          <p:cNvPr id="15" name="Text 13"/>
          <p:cNvSpPr/>
          <p:nvPr/>
        </p:nvSpPr>
        <p:spPr>
          <a:xfrm>
            <a:off x="932688" y="324612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11 Aug am</a:t>
            </a:r>
            <a:endParaRPr lang="en-US" sz="1200" dirty="0"/>
          </a:p>
        </p:txBody>
      </p:sp>
      <p:sp>
        <p:nvSpPr>
          <p:cNvPr id="16" name="Text 14"/>
          <p:cNvSpPr/>
          <p:nvPr/>
        </p:nvSpPr>
        <p:spPr>
          <a:xfrm>
            <a:off x="2212848" y="324612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First scored run 49.822 — the question set had been revised under us.</a:t>
            </a:r>
            <a:endParaRPr lang="en-US" sz="1150" dirty="0"/>
          </a:p>
        </p:txBody>
      </p:sp>
      <p:sp>
        <p:nvSpPr>
          <p:cNvPr id="17" name="Shape 15"/>
          <p:cNvSpPr/>
          <p:nvPr/>
        </p:nvSpPr>
        <p:spPr>
          <a:xfrm>
            <a:off x="585216" y="3858768"/>
            <a:ext cx="182880" cy="182880"/>
          </a:xfrm>
          <a:prstGeom prst="ellipse">
            <a:avLst/>
          </a:prstGeom>
          <a:solidFill>
            <a:srgbClr val="F2A104"/>
          </a:solidFill>
          <a:ln/>
        </p:spPr>
      </p:sp>
      <p:sp>
        <p:nvSpPr>
          <p:cNvPr id="18" name="Shape 16"/>
          <p:cNvSpPr/>
          <p:nvPr/>
        </p:nvSpPr>
        <p:spPr>
          <a:xfrm>
            <a:off x="667512" y="4041648"/>
            <a:ext cx="18288" cy="365760"/>
          </a:xfrm>
          <a:prstGeom prst="rect">
            <a:avLst/>
          </a:prstGeom>
          <a:solidFill>
            <a:srgbClr val="D5DEE5"/>
          </a:solidFill>
          <a:ln/>
        </p:spPr>
      </p:sp>
      <p:sp>
        <p:nvSpPr>
          <p:cNvPr id="19" name="Text 17"/>
          <p:cNvSpPr/>
          <p:nvPr/>
        </p:nvSpPr>
        <p:spPr>
          <a:xfrm>
            <a:off x="932688" y="379476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11 Aug midday</a:t>
            </a:r>
            <a:endParaRPr lang="en-US" sz="1200" dirty="0"/>
          </a:p>
        </p:txBody>
      </p:sp>
      <p:sp>
        <p:nvSpPr>
          <p:cNvPr id="20" name="Text 18"/>
          <p:cNvSpPr/>
          <p:nvPr/>
        </p:nvSpPr>
        <p:spPr>
          <a:xfrm>
            <a:off x="2212848" y="379476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Rule ladder replaced by the family classifier. 73.0 → 98.1.</a:t>
            </a:r>
            <a:endParaRPr lang="en-US" sz="1150" dirty="0"/>
          </a:p>
        </p:txBody>
      </p:sp>
      <p:sp>
        <p:nvSpPr>
          <p:cNvPr id="21" name="Shape 19"/>
          <p:cNvSpPr/>
          <p:nvPr/>
        </p:nvSpPr>
        <p:spPr>
          <a:xfrm>
            <a:off x="585216" y="4407408"/>
            <a:ext cx="182880" cy="182880"/>
          </a:xfrm>
          <a:prstGeom prst="ellipse">
            <a:avLst/>
          </a:prstGeom>
          <a:solidFill>
            <a:srgbClr val="F2A104"/>
          </a:solidFill>
          <a:ln/>
        </p:spPr>
      </p:sp>
      <p:sp>
        <p:nvSpPr>
          <p:cNvPr id="22" name="Shape 20"/>
          <p:cNvSpPr/>
          <p:nvPr/>
        </p:nvSpPr>
        <p:spPr>
          <a:xfrm>
            <a:off x="667512" y="4590288"/>
            <a:ext cx="18288" cy="365760"/>
          </a:xfrm>
          <a:prstGeom prst="rect">
            <a:avLst/>
          </a:prstGeom>
          <a:solidFill>
            <a:srgbClr val="D5DEE5"/>
          </a:solidFill>
          <a:ln/>
        </p:spPr>
      </p:sp>
      <p:sp>
        <p:nvSpPr>
          <p:cNvPr id="23" name="Text 21"/>
          <p:cNvSpPr/>
          <p:nvPr/>
        </p:nvSpPr>
        <p:spPr>
          <a:xfrm>
            <a:off x="932688" y="434340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11 Aug pm</a:t>
            </a:r>
            <a:endParaRPr lang="en-US" sz="1200" dirty="0"/>
          </a:p>
        </p:txBody>
      </p:sp>
      <p:sp>
        <p:nvSpPr>
          <p:cNvPr id="24" name="Text 22"/>
          <p:cNvSpPr/>
          <p:nvPr/>
        </p:nvSpPr>
        <p:spPr>
          <a:xfrm>
            <a:off x="2212848" y="434340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Cross-checks and leaderboard measurement. 98.1 → 100.000.</a:t>
            </a:r>
            <a:endParaRPr lang="en-US" sz="1150" dirty="0"/>
          </a:p>
        </p:txBody>
      </p:sp>
      <p:sp>
        <p:nvSpPr>
          <p:cNvPr id="25" name="Shape 23"/>
          <p:cNvSpPr/>
          <p:nvPr/>
        </p:nvSpPr>
        <p:spPr>
          <a:xfrm>
            <a:off x="585216" y="4956048"/>
            <a:ext cx="182880" cy="182880"/>
          </a:xfrm>
          <a:prstGeom prst="ellipse">
            <a:avLst/>
          </a:prstGeom>
          <a:solidFill>
            <a:srgbClr val="2A5C7A"/>
          </a:solidFill>
          <a:ln/>
        </p:spPr>
      </p:sp>
      <p:sp>
        <p:nvSpPr>
          <p:cNvPr id="26" name="Shape 24"/>
          <p:cNvSpPr/>
          <p:nvPr/>
        </p:nvSpPr>
        <p:spPr>
          <a:xfrm>
            <a:off x="667512" y="5138928"/>
            <a:ext cx="18288" cy="365760"/>
          </a:xfrm>
          <a:prstGeom prst="rect">
            <a:avLst/>
          </a:prstGeom>
          <a:solidFill>
            <a:srgbClr val="D5DEE5"/>
          </a:solidFill>
          <a:ln/>
        </p:spPr>
      </p:sp>
      <p:sp>
        <p:nvSpPr>
          <p:cNvPr id="27" name="Text 25"/>
          <p:cNvSpPr/>
          <p:nvPr/>
        </p:nvSpPr>
        <p:spPr>
          <a:xfrm>
            <a:off x="932688" y="489204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13 Aug</a:t>
            </a:r>
            <a:endParaRPr lang="en-US" sz="1200" dirty="0"/>
          </a:p>
        </p:txBody>
      </p:sp>
      <p:sp>
        <p:nvSpPr>
          <p:cNvPr id="28" name="Text 26"/>
          <p:cNvSpPr/>
          <p:nvPr/>
        </p:nvSpPr>
        <p:spPr>
          <a:xfrm>
            <a:off x="2212848" y="489204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Submission deadline.</a:t>
            </a:r>
            <a:endParaRPr lang="en-US" sz="1150" dirty="0"/>
          </a:p>
        </p:txBody>
      </p:sp>
      <p:sp>
        <p:nvSpPr>
          <p:cNvPr id="29" name="Shape 27"/>
          <p:cNvSpPr/>
          <p:nvPr/>
        </p:nvSpPr>
        <p:spPr>
          <a:xfrm>
            <a:off x="585216" y="5504688"/>
            <a:ext cx="182880" cy="182880"/>
          </a:xfrm>
          <a:prstGeom prst="ellipse">
            <a:avLst/>
          </a:prstGeom>
          <a:solidFill>
            <a:srgbClr val="2A5C7A"/>
          </a:solidFill>
          <a:ln/>
        </p:spPr>
      </p:sp>
      <p:sp>
        <p:nvSpPr>
          <p:cNvPr id="30" name="Text 28"/>
          <p:cNvSpPr/>
          <p:nvPr/>
        </p:nvSpPr>
        <p:spPr>
          <a:xfrm>
            <a:off x="932688" y="5440680"/>
            <a:ext cx="1234440" cy="274320"/>
          </a:xfrm>
          <a:prstGeom prst="rect">
            <a:avLst/>
          </a:prstGeom>
          <a:noFill/>
          <a:ln/>
        </p:spPr>
        <p:txBody>
          <a:bodyPr wrap="square" lIns="0" tIns="0" rIns="0" bIns="0" rtlCol="0" anchor="ctr"/>
          <a:lstStyle/>
          <a:p>
            <a:pPr indent="0" marL="0">
              <a:buNone/>
            </a:pPr>
            <a:r>
              <a:rPr lang="en-US" sz="1200" b="1" dirty="0">
                <a:solidFill>
                  <a:srgbClr val="0F1E2E"/>
                </a:solidFill>
                <a:latin typeface="Calibri" pitchFamily="34" charset="0"/>
                <a:ea typeface="Calibri" pitchFamily="34" charset="-122"/>
                <a:cs typeface="Calibri" pitchFamily="34" charset="-120"/>
              </a:rPr>
              <a:t>15 Aug</a:t>
            </a:r>
            <a:endParaRPr lang="en-US" sz="1200" dirty="0"/>
          </a:p>
        </p:txBody>
      </p:sp>
      <p:sp>
        <p:nvSpPr>
          <p:cNvPr id="31" name="Text 29"/>
          <p:cNvSpPr/>
          <p:nvPr/>
        </p:nvSpPr>
        <p:spPr>
          <a:xfrm>
            <a:off x="2212848" y="5440680"/>
            <a:ext cx="3291840" cy="502920"/>
          </a:xfrm>
          <a:prstGeom prst="rect">
            <a:avLst/>
          </a:prstGeom>
          <a:noFill/>
          <a:ln/>
        </p:spPr>
        <p:txBody>
          <a:bodyPr wrap="square" lIns="0" tIns="0" rIns="0" bIns="0" rtlCol="0" anchor="ctr"/>
          <a:lstStyle/>
          <a:p>
            <a:pPr indent="0" marL="0">
              <a:lnSpc>
                <a:spcPct val="105000"/>
              </a:lnSpc>
              <a:buNone/>
            </a:pPr>
            <a:r>
              <a:rPr lang="en-US" sz="1150" dirty="0">
                <a:solidFill>
                  <a:srgbClr val="5A6B7A"/>
                </a:solidFill>
                <a:latin typeface="Calibri" pitchFamily="34" charset="0"/>
                <a:ea typeface="Calibri" pitchFamily="34" charset="-122"/>
                <a:cs typeface="Calibri" pitchFamily="34" charset="-120"/>
              </a:rPr>
              <a:t>This session.</a:t>
            </a:r>
            <a:endParaRPr lang="en-US" sz="1150" dirty="0"/>
          </a:p>
        </p:txBody>
      </p:sp>
      <p:sp>
        <p:nvSpPr>
          <p:cNvPr id="32" name="Shape 30"/>
          <p:cNvSpPr/>
          <p:nvPr/>
        </p:nvSpPr>
        <p:spPr>
          <a:xfrm>
            <a:off x="5961888" y="1783080"/>
            <a:ext cx="2788920" cy="4069080"/>
          </a:xfrm>
          <a:prstGeom prst="roundRect">
            <a:avLst>
              <a:gd name="adj" fmla="val 2623"/>
            </a:avLst>
          </a:prstGeom>
          <a:solidFill>
            <a:srgbClr val="F4F6F8"/>
          </a:solidFill>
          <a:ln/>
        </p:spPr>
      </p:sp>
      <p:sp>
        <p:nvSpPr>
          <p:cNvPr id="33" name="Shape 31"/>
          <p:cNvSpPr/>
          <p:nvPr/>
        </p:nvSpPr>
        <p:spPr>
          <a:xfrm>
            <a:off x="5961888" y="1783080"/>
            <a:ext cx="2788920" cy="841248"/>
          </a:xfrm>
          <a:prstGeom prst="rect">
            <a:avLst/>
          </a:prstGeom>
          <a:solidFill>
            <a:srgbClr val="0F1E2E"/>
          </a:solidFill>
          <a:ln/>
        </p:spPr>
      </p:sp>
      <p:sp>
        <p:nvSpPr>
          <p:cNvPr id="34" name="Text 32"/>
          <p:cNvSpPr/>
          <p:nvPr/>
        </p:nvSpPr>
        <p:spPr>
          <a:xfrm>
            <a:off x="6126480" y="1874520"/>
            <a:ext cx="246888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NAME 1 ]</a:t>
            </a:r>
            <a:endParaRPr lang="en-US" sz="1400" dirty="0"/>
          </a:p>
        </p:txBody>
      </p:sp>
      <p:sp>
        <p:nvSpPr>
          <p:cNvPr id="35" name="Text 33"/>
          <p:cNvSpPr/>
          <p:nvPr/>
        </p:nvSpPr>
        <p:spPr>
          <a:xfrm>
            <a:off x="6126480" y="2194560"/>
            <a:ext cx="2468880" cy="347472"/>
          </a:xfrm>
          <a:prstGeom prst="rect">
            <a:avLst/>
          </a:prstGeom>
          <a:noFill/>
          <a:ln/>
        </p:spPr>
        <p:txBody>
          <a:bodyPr wrap="square" lIns="0" tIns="0" rIns="0" bIns="0" rtlCol="0" anchor="ctr"/>
          <a:lstStyle/>
          <a:p>
            <a:pPr indent="0" marL="0">
              <a:lnSpc>
                <a:spcPct val="105000"/>
              </a:lnSpc>
              <a:buNone/>
            </a:pPr>
            <a:r>
              <a:rPr lang="en-US" sz="1150" dirty="0">
                <a:solidFill>
                  <a:srgbClr val="F2A104"/>
                </a:solidFill>
                <a:latin typeface="Calibri" pitchFamily="34" charset="0"/>
                <a:ea typeface="Calibri" pitchFamily="34" charset="-122"/>
                <a:cs typeface="Calibri" pitchFamily="34" charset="-120"/>
              </a:rPr>
              <a:t>Extraction and data layer</a:t>
            </a:r>
            <a:endParaRPr lang="en-US" sz="1150" dirty="0"/>
          </a:p>
        </p:txBody>
      </p:sp>
      <p:sp>
        <p:nvSpPr>
          <p:cNvPr id="36" name="Shape 34"/>
          <p:cNvSpPr/>
          <p:nvPr/>
        </p:nvSpPr>
        <p:spPr>
          <a:xfrm>
            <a:off x="6126480" y="2852928"/>
            <a:ext cx="100584" cy="100584"/>
          </a:xfrm>
          <a:prstGeom prst="ellipse">
            <a:avLst/>
          </a:prstGeom>
          <a:solidFill>
            <a:srgbClr val="F2A104"/>
          </a:solidFill>
          <a:ln/>
        </p:spPr>
      </p:sp>
      <p:sp>
        <p:nvSpPr>
          <p:cNvPr id="37" name="Text 35"/>
          <p:cNvSpPr/>
          <p:nvPr/>
        </p:nvSpPr>
        <p:spPr>
          <a:xfrm>
            <a:off x="6345936" y="2788920"/>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PyMuPDF text pipeline over 678 PDFs; 7 certificate layouts plus prose fallbacks</a:t>
            </a:r>
            <a:endParaRPr lang="en-US" sz="1050" dirty="0"/>
          </a:p>
        </p:txBody>
      </p:sp>
      <p:sp>
        <p:nvSpPr>
          <p:cNvPr id="38" name="Shape 36"/>
          <p:cNvSpPr/>
          <p:nvPr/>
        </p:nvSpPr>
        <p:spPr>
          <a:xfrm>
            <a:off x="6126480" y="3611880"/>
            <a:ext cx="100584" cy="100584"/>
          </a:xfrm>
          <a:prstGeom prst="ellipse">
            <a:avLst/>
          </a:prstGeom>
          <a:solidFill>
            <a:srgbClr val="F2A104"/>
          </a:solidFill>
          <a:ln/>
        </p:spPr>
      </p:sp>
      <p:sp>
        <p:nvSpPr>
          <p:cNvPr id="39" name="Text 37"/>
          <p:cNvSpPr/>
          <p:nvPr/>
        </p:nvSpPr>
        <p:spPr>
          <a:xfrm>
            <a:off x="6345936" y="3547872"/>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Entity resolution: 51 raw name strings → 28 clients, 39 people</a:t>
            </a:r>
            <a:endParaRPr lang="en-US" sz="1050" dirty="0"/>
          </a:p>
        </p:txBody>
      </p:sp>
      <p:sp>
        <p:nvSpPr>
          <p:cNvPr id="40" name="Shape 38"/>
          <p:cNvSpPr/>
          <p:nvPr/>
        </p:nvSpPr>
        <p:spPr>
          <a:xfrm>
            <a:off x="6126480" y="4370832"/>
            <a:ext cx="100584" cy="100584"/>
          </a:xfrm>
          <a:prstGeom prst="ellipse">
            <a:avLst/>
          </a:prstGeom>
          <a:solidFill>
            <a:srgbClr val="F2A104"/>
          </a:solidFill>
          <a:ln/>
        </p:spPr>
      </p:sp>
      <p:sp>
        <p:nvSpPr>
          <p:cNvPr id="41" name="Text 39"/>
          <p:cNvSpPr/>
          <p:nvPr/>
        </p:nvSpPr>
        <p:spPr>
          <a:xfrm>
            <a:off x="6345936" y="4306824"/>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The 9 Excel workbooks → receivables, trial balance, BOQ</a:t>
            </a:r>
            <a:endParaRPr lang="en-US" sz="1050" dirty="0"/>
          </a:p>
        </p:txBody>
      </p:sp>
      <p:sp>
        <p:nvSpPr>
          <p:cNvPr id="42" name="Shape 40"/>
          <p:cNvSpPr/>
          <p:nvPr/>
        </p:nvSpPr>
        <p:spPr>
          <a:xfrm>
            <a:off x="6126480" y="5129784"/>
            <a:ext cx="100584" cy="100584"/>
          </a:xfrm>
          <a:prstGeom prst="ellipse">
            <a:avLst/>
          </a:prstGeom>
          <a:solidFill>
            <a:srgbClr val="F2A104"/>
          </a:solidFill>
          <a:ln/>
        </p:spPr>
      </p:sp>
      <p:sp>
        <p:nvSpPr>
          <p:cNvPr id="43" name="Text 41"/>
          <p:cNvSpPr/>
          <p:nvPr/>
        </p:nvSpPr>
        <p:spPr>
          <a:xfrm>
            <a:off x="6345936" y="5065776"/>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Independent re-extraction by a second document route — the 155/155 reconciliation</a:t>
            </a:r>
            <a:endParaRPr lang="en-US" sz="1050" dirty="0"/>
          </a:p>
        </p:txBody>
      </p:sp>
      <p:sp>
        <p:nvSpPr>
          <p:cNvPr id="44" name="Shape 42"/>
          <p:cNvSpPr/>
          <p:nvPr/>
        </p:nvSpPr>
        <p:spPr>
          <a:xfrm>
            <a:off x="8933688" y="1783080"/>
            <a:ext cx="2788920" cy="4069080"/>
          </a:xfrm>
          <a:prstGeom prst="roundRect">
            <a:avLst>
              <a:gd name="adj" fmla="val 2623"/>
            </a:avLst>
          </a:prstGeom>
          <a:solidFill>
            <a:srgbClr val="F4F6F8"/>
          </a:solidFill>
          <a:ln/>
        </p:spPr>
      </p:sp>
      <p:sp>
        <p:nvSpPr>
          <p:cNvPr id="45" name="Shape 43"/>
          <p:cNvSpPr/>
          <p:nvPr/>
        </p:nvSpPr>
        <p:spPr>
          <a:xfrm>
            <a:off x="8933688" y="1783080"/>
            <a:ext cx="2788920" cy="841248"/>
          </a:xfrm>
          <a:prstGeom prst="rect">
            <a:avLst/>
          </a:prstGeom>
          <a:solidFill>
            <a:srgbClr val="0F1E2E"/>
          </a:solidFill>
          <a:ln/>
        </p:spPr>
      </p:sp>
      <p:sp>
        <p:nvSpPr>
          <p:cNvPr id="46" name="Text 44"/>
          <p:cNvSpPr/>
          <p:nvPr/>
        </p:nvSpPr>
        <p:spPr>
          <a:xfrm>
            <a:off x="9098280" y="1874520"/>
            <a:ext cx="246888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NAME 2 ]</a:t>
            </a:r>
            <a:endParaRPr lang="en-US" sz="1400" dirty="0"/>
          </a:p>
        </p:txBody>
      </p:sp>
      <p:sp>
        <p:nvSpPr>
          <p:cNvPr id="47" name="Text 45"/>
          <p:cNvSpPr/>
          <p:nvPr/>
        </p:nvSpPr>
        <p:spPr>
          <a:xfrm>
            <a:off x="9098280" y="2194560"/>
            <a:ext cx="2468880" cy="347472"/>
          </a:xfrm>
          <a:prstGeom prst="rect">
            <a:avLst/>
          </a:prstGeom>
          <a:noFill/>
          <a:ln/>
        </p:spPr>
        <p:txBody>
          <a:bodyPr wrap="square" lIns="0" tIns="0" rIns="0" bIns="0" rtlCol="0" anchor="ctr"/>
          <a:lstStyle/>
          <a:p>
            <a:pPr indent="0" marL="0">
              <a:lnSpc>
                <a:spcPct val="105000"/>
              </a:lnSpc>
              <a:buNone/>
            </a:pPr>
            <a:r>
              <a:rPr lang="en-US" sz="1150" dirty="0">
                <a:solidFill>
                  <a:srgbClr val="F2A104"/>
                </a:solidFill>
                <a:latin typeface="Calibri" pitchFamily="34" charset="0"/>
                <a:ea typeface="Calibri" pitchFamily="34" charset="-122"/>
                <a:cs typeface="Calibri" pitchFamily="34" charset="-120"/>
              </a:rPr>
              <a:t>Query layer and verification</a:t>
            </a:r>
            <a:endParaRPr lang="en-US" sz="1150" dirty="0"/>
          </a:p>
        </p:txBody>
      </p:sp>
      <p:sp>
        <p:nvSpPr>
          <p:cNvPr id="48" name="Shape 46"/>
          <p:cNvSpPr/>
          <p:nvPr/>
        </p:nvSpPr>
        <p:spPr>
          <a:xfrm>
            <a:off x="9098280" y="2852928"/>
            <a:ext cx="100584" cy="100584"/>
          </a:xfrm>
          <a:prstGeom prst="ellipse">
            <a:avLst/>
          </a:prstGeom>
          <a:solidFill>
            <a:srgbClr val="F2A104"/>
          </a:solidFill>
          <a:ln/>
        </p:spPr>
      </p:sp>
      <p:sp>
        <p:nvSpPr>
          <p:cNvPr id="49" name="Text 47"/>
          <p:cNvSpPr/>
          <p:nvPr/>
        </p:nvSpPr>
        <p:spPr>
          <a:xfrm>
            <a:off x="9317736" y="2788920"/>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Family classifier: question → shape and parameters, 18 families</a:t>
            </a:r>
            <a:endParaRPr lang="en-US" sz="1050" dirty="0"/>
          </a:p>
        </p:txBody>
      </p:sp>
      <p:sp>
        <p:nvSpPr>
          <p:cNvPr id="50" name="Shape 48"/>
          <p:cNvSpPr/>
          <p:nvPr/>
        </p:nvSpPr>
        <p:spPr>
          <a:xfrm>
            <a:off x="9098280" y="3611880"/>
            <a:ext cx="100584" cy="100584"/>
          </a:xfrm>
          <a:prstGeom prst="ellipse">
            <a:avLst/>
          </a:prstGeom>
          <a:solidFill>
            <a:srgbClr val="F2A104"/>
          </a:solidFill>
          <a:ln/>
        </p:spPr>
      </p:sp>
      <p:sp>
        <p:nvSpPr>
          <p:cNvPr id="51" name="Text 49"/>
          <p:cNvSpPr/>
          <p:nvPr/>
        </p:nvSpPr>
        <p:spPr>
          <a:xfrm>
            <a:off x="9317736" y="3547872"/>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Executor: the query shapes, where all arithmetic lives</a:t>
            </a:r>
            <a:endParaRPr lang="en-US" sz="1050" dirty="0"/>
          </a:p>
        </p:txBody>
      </p:sp>
      <p:sp>
        <p:nvSpPr>
          <p:cNvPr id="52" name="Shape 50"/>
          <p:cNvSpPr/>
          <p:nvPr/>
        </p:nvSpPr>
        <p:spPr>
          <a:xfrm>
            <a:off x="9098280" y="4370832"/>
            <a:ext cx="100584" cy="100584"/>
          </a:xfrm>
          <a:prstGeom prst="ellipse">
            <a:avLst/>
          </a:prstGeom>
          <a:solidFill>
            <a:srgbClr val="F2A104"/>
          </a:solidFill>
          <a:ln/>
        </p:spPr>
      </p:sp>
      <p:sp>
        <p:nvSpPr>
          <p:cNvPr id="53" name="Text 51"/>
          <p:cNvSpPr/>
          <p:nvPr/>
        </p:nvSpPr>
        <p:spPr>
          <a:xfrm>
            <a:off x="9317736" y="4306824"/>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Verification suite, including the checks that need no answer key</a:t>
            </a:r>
            <a:endParaRPr lang="en-US" sz="1050" dirty="0"/>
          </a:p>
        </p:txBody>
      </p:sp>
      <p:sp>
        <p:nvSpPr>
          <p:cNvPr id="54" name="Shape 52"/>
          <p:cNvSpPr/>
          <p:nvPr/>
        </p:nvSpPr>
        <p:spPr>
          <a:xfrm>
            <a:off x="9098280" y="5129784"/>
            <a:ext cx="100584" cy="100584"/>
          </a:xfrm>
          <a:prstGeom prst="ellipse">
            <a:avLst/>
          </a:prstGeom>
          <a:solidFill>
            <a:srgbClr val="F2A104"/>
          </a:solidFill>
          <a:ln/>
        </p:spPr>
      </p:sp>
      <p:sp>
        <p:nvSpPr>
          <p:cNvPr id="55" name="Text 53"/>
          <p:cNvSpPr/>
          <p:nvPr/>
        </p:nvSpPr>
        <p:spPr>
          <a:xfrm>
            <a:off x="9317736" y="5065776"/>
            <a:ext cx="2240280" cy="713232"/>
          </a:xfrm>
          <a:prstGeom prst="rect">
            <a:avLst/>
          </a:prstGeom>
          <a:noFill/>
          <a:ln/>
        </p:spPr>
        <p:txBody>
          <a:bodyPr wrap="square" lIns="0" tIns="0" rIns="0" bIns="0" rtlCol="0" anchor="ctr"/>
          <a:lstStyle/>
          <a:p>
            <a:pPr indent="0" marL="0">
              <a:lnSpc>
                <a:spcPct val="108000"/>
              </a:lnSpc>
              <a:buNone/>
            </a:pPr>
            <a:r>
              <a:rPr lang="en-US" sz="1050" dirty="0">
                <a:solidFill>
                  <a:srgbClr val="0F1E2E"/>
                </a:solidFill>
                <a:latin typeface="Calibri" pitchFamily="34" charset="0"/>
                <a:ea typeface="Calibri" pitchFamily="34" charset="-122"/>
                <a:cs typeface="Calibri" pitchFamily="34" charset="-120"/>
              </a:rPr>
              <a:t>Submission strategy and the measurement that located the final error</a:t>
            </a:r>
            <a:endParaRPr lang="en-US" sz="1050" dirty="0"/>
          </a:p>
        </p:txBody>
      </p:sp>
      <p:sp>
        <p:nvSpPr>
          <p:cNvPr id="56" name="Shape 54"/>
          <p:cNvSpPr/>
          <p:nvPr/>
        </p:nvSpPr>
        <p:spPr>
          <a:xfrm>
            <a:off x="566928" y="5989320"/>
            <a:ext cx="11064240" cy="502920"/>
          </a:xfrm>
          <a:prstGeom prst="roundRect">
            <a:avLst>
              <a:gd name="adj" fmla="val 10909"/>
            </a:avLst>
          </a:prstGeom>
          <a:solidFill>
            <a:srgbClr val="0F1E2E"/>
          </a:solidFill>
          <a:ln/>
        </p:spPr>
      </p:sp>
      <p:sp>
        <p:nvSpPr>
          <p:cNvPr id="57" name="Text 55"/>
          <p:cNvSpPr/>
          <p:nvPr/>
        </p:nvSpPr>
        <p:spPr>
          <a:xfrm>
            <a:off x="795528" y="5989320"/>
            <a:ext cx="3200400" cy="502920"/>
          </a:xfrm>
          <a:prstGeom prst="rect">
            <a:avLst/>
          </a:prstGeom>
          <a:noFill/>
          <a:ln/>
        </p:spPr>
        <p:txBody>
          <a:bodyPr wrap="square" lIns="0" tIns="0" rIns="0" bIns="0" rtlCol="0" anchor="ctr"/>
          <a:lstStyle/>
          <a:p>
            <a:pPr indent="0" marL="0">
              <a:buNone/>
            </a:pPr>
            <a:r>
              <a:rPr lang="en-US" sz="1150" dirty="0">
                <a:solidFill>
                  <a:srgbClr val="B9C7D2"/>
                </a:solidFill>
                <a:latin typeface="Calibri" pitchFamily="34" charset="0"/>
                <a:ea typeface="Calibri" pitchFamily="34" charset="-122"/>
                <a:cs typeface="Calibri" pitchFamily="34" charset="-120"/>
              </a:rPr>
              <a:t>Code, tests and full commit history:</a:t>
            </a:r>
            <a:endParaRPr lang="en-US" sz="1150" dirty="0"/>
          </a:p>
        </p:txBody>
      </p:sp>
      <p:sp>
        <p:nvSpPr>
          <p:cNvPr id="58" name="Text 56"/>
          <p:cNvSpPr/>
          <p:nvPr/>
        </p:nvSpPr>
        <p:spPr>
          <a:xfrm>
            <a:off x="3995928" y="5989320"/>
            <a:ext cx="4754880" cy="502920"/>
          </a:xfrm>
          <a:prstGeom prst="rect">
            <a:avLst/>
          </a:prstGeom>
          <a:noFill/>
          <a:ln/>
        </p:spPr>
        <p:txBody>
          <a:bodyPr wrap="square" lIns="0" tIns="0" rIns="0" bIns="0" rtlCol="0" anchor="ctr"/>
          <a:lstStyle/>
          <a:p>
            <a:pPr indent="0" marL="0">
              <a:buNone/>
            </a:pPr>
            <a:r>
              <a:rPr lang="en-US" sz="1150" dirty="0">
                <a:solidFill>
                  <a:srgbClr val="F2A104"/>
                </a:solidFill>
                <a:latin typeface="Courier New" pitchFamily="34" charset="0"/>
                <a:ea typeface="Courier New" pitchFamily="34" charset="-122"/>
                <a:cs typeface="Courier New" pitchFamily="34" charset="-120"/>
              </a:rPr>
              <a:t>github.com/nilaymastaadmi/jaw2026-trust-reliability</a:t>
            </a:r>
            <a:endParaRPr lang="en-US" sz="1150" dirty="0"/>
          </a:p>
        </p:txBody>
      </p:sp>
      <p:sp>
        <p:nvSpPr>
          <p:cNvPr id="59" name="Text 57"/>
          <p:cNvSpPr/>
          <p:nvPr/>
        </p:nvSpPr>
        <p:spPr>
          <a:xfrm>
            <a:off x="8887968" y="5989320"/>
            <a:ext cx="2514600" cy="502920"/>
          </a:xfrm>
          <a:prstGeom prst="rect">
            <a:avLst/>
          </a:prstGeom>
          <a:noFill/>
          <a:ln/>
        </p:spPr>
        <p:txBody>
          <a:bodyPr wrap="square" lIns="0" tIns="0" rIns="0" bIns="0" rtlCol="0" anchor="ctr"/>
          <a:lstStyle/>
          <a:p>
            <a:pPr algn="r" indent="0" marL="0">
              <a:buNone/>
            </a:pPr>
            <a:r>
              <a:rPr lang="en-US" sz="1100" dirty="0">
                <a:solidFill>
                  <a:srgbClr val="B9C7D2"/>
                </a:solidFill>
                <a:latin typeface="Courier New" pitchFamily="34" charset="0"/>
                <a:ea typeface="Courier New" pitchFamily="34" charset="-122"/>
                <a:cs typeface="Courier New" pitchFamily="34" charset="-120"/>
              </a:rPr>
              <a:t>Scored commit 71ae506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2E"/>
        </a:solidFill>
      </p:bgPr>
    </p:bg>
    <p:spTree>
      <p:nvGrpSpPr>
        <p:cNvPr id="1" name=""/>
        <p:cNvGrpSpPr/>
        <p:nvPr/>
      </p:nvGrpSpPr>
      <p:grpSpPr>
        <a:xfrm>
          <a:off x="0" y="0"/>
          <a:ext cx="0" cy="0"/>
          <a:chOff x="0" y="0"/>
          <a:chExt cx="0" cy="0"/>
        </a:xfrm>
      </p:grpSpPr>
      <p:sp>
        <p:nvSpPr>
          <p:cNvPr id="2" name="Text 0"/>
          <p:cNvSpPr/>
          <p:nvPr/>
        </p:nvSpPr>
        <p:spPr>
          <a:xfrm>
            <a:off x="566928" y="68580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generalises</a:t>
            </a:r>
            <a:endParaRPr lang="en-US" sz="3400" dirty="0"/>
          </a:p>
        </p:txBody>
      </p:sp>
      <p:sp>
        <p:nvSpPr>
          <p:cNvPr id="3" name="Shape 1"/>
          <p:cNvSpPr/>
          <p:nvPr/>
        </p:nvSpPr>
        <p:spPr>
          <a:xfrm>
            <a:off x="566928" y="1600200"/>
            <a:ext cx="402336" cy="402336"/>
          </a:xfrm>
          <a:prstGeom prst="ellipse">
            <a:avLst/>
          </a:prstGeom>
          <a:solidFill>
            <a:srgbClr val="F2A104"/>
          </a:solidFill>
          <a:ln/>
        </p:spPr>
      </p:sp>
      <p:sp>
        <p:nvSpPr>
          <p:cNvPr id="4" name="Text 2"/>
          <p:cNvSpPr/>
          <p:nvPr/>
        </p:nvSpPr>
        <p:spPr>
          <a:xfrm>
            <a:off x="566928" y="1600200"/>
            <a:ext cx="402336" cy="402336"/>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188720" y="1554480"/>
            <a:ext cx="1033272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Separate classification from computation</a:t>
            </a:r>
            <a:endParaRPr lang="en-US" sz="1700" dirty="0"/>
          </a:p>
        </p:txBody>
      </p:sp>
      <p:sp>
        <p:nvSpPr>
          <p:cNvPr id="6" name="Text 4"/>
          <p:cNvSpPr/>
          <p:nvPr/>
        </p:nvSpPr>
        <p:spPr>
          <a:xfrm>
            <a:off x="1188720" y="1901952"/>
            <a:ext cx="10332720" cy="658368"/>
          </a:xfrm>
          <a:prstGeom prst="rect">
            <a:avLst/>
          </a:prstGeom>
          <a:noFill/>
          <a:ln/>
        </p:spPr>
        <p:txBody>
          <a:bodyPr wrap="square" lIns="0" tIns="0" rIns="0" bIns="0" rtlCol="0" anchor="ctr"/>
          <a:lstStyle/>
          <a:p>
            <a:pPr indent="0" marL="0">
              <a:lnSpc>
                <a:spcPct val="115000"/>
              </a:lnSpc>
              <a:buNone/>
            </a:pPr>
            <a:r>
              <a:rPr lang="en-US" sz="1300" dirty="0">
                <a:solidFill>
                  <a:srgbClr val="9FB3C2"/>
                </a:solidFill>
                <a:latin typeface="Calibri" pitchFamily="34" charset="0"/>
                <a:ea typeface="Calibri" pitchFamily="34" charset="-122"/>
                <a:cs typeface="Calibri" pitchFamily="34" charset="-120"/>
              </a:rPr>
              <a:t>Let the model decide WHAT to compute and never compute it. Every number stays reproducible, auditable, and exactly as precise as the source document.</a:t>
            </a:r>
            <a:endParaRPr lang="en-US" sz="1300" dirty="0"/>
          </a:p>
        </p:txBody>
      </p:sp>
      <p:sp>
        <p:nvSpPr>
          <p:cNvPr id="7" name="Shape 5"/>
          <p:cNvSpPr/>
          <p:nvPr/>
        </p:nvSpPr>
        <p:spPr>
          <a:xfrm>
            <a:off x="566928" y="2770632"/>
            <a:ext cx="402336" cy="402336"/>
          </a:xfrm>
          <a:prstGeom prst="ellipse">
            <a:avLst/>
          </a:prstGeom>
          <a:solidFill>
            <a:srgbClr val="F2A104"/>
          </a:solidFill>
          <a:ln/>
        </p:spPr>
      </p:sp>
      <p:sp>
        <p:nvSpPr>
          <p:cNvPr id="8" name="Text 6"/>
          <p:cNvSpPr/>
          <p:nvPr/>
        </p:nvSpPr>
        <p:spPr>
          <a:xfrm>
            <a:off x="566928" y="2770632"/>
            <a:ext cx="402336" cy="402336"/>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188720" y="2724912"/>
            <a:ext cx="1033272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Corroborate the data layer first</a:t>
            </a:r>
            <a:endParaRPr lang="en-US" sz="1700" dirty="0"/>
          </a:p>
        </p:txBody>
      </p:sp>
      <p:sp>
        <p:nvSpPr>
          <p:cNvPr id="10" name="Text 8"/>
          <p:cNvSpPr/>
          <p:nvPr/>
        </p:nvSpPr>
        <p:spPr>
          <a:xfrm>
            <a:off x="1188720" y="3072384"/>
            <a:ext cx="10332720" cy="658368"/>
          </a:xfrm>
          <a:prstGeom prst="rect">
            <a:avLst/>
          </a:prstGeom>
          <a:noFill/>
          <a:ln/>
        </p:spPr>
        <p:txBody>
          <a:bodyPr wrap="square" lIns="0" tIns="0" rIns="0" bIns="0" rtlCol="0" anchor="ctr"/>
          <a:lstStyle/>
          <a:p>
            <a:pPr indent="0" marL="0">
              <a:lnSpc>
                <a:spcPct val="115000"/>
              </a:lnSpc>
              <a:buNone/>
            </a:pPr>
            <a:r>
              <a:rPr lang="en-US" sz="1300" dirty="0">
                <a:solidFill>
                  <a:srgbClr val="9FB3C2"/>
                </a:solidFill>
                <a:latin typeface="Calibri" pitchFamily="34" charset="0"/>
                <a:ea typeface="Calibri" pitchFamily="34" charset="-122"/>
                <a:cs typeface="Calibri" pitchFamily="34" charset="-120"/>
              </a:rPr>
              <a:t>Extracting the same facts twice by different routes cost a day and bought the deduction that every later error had to be in the query layer.</a:t>
            </a:r>
            <a:endParaRPr lang="en-US" sz="1300" dirty="0"/>
          </a:p>
        </p:txBody>
      </p:sp>
      <p:sp>
        <p:nvSpPr>
          <p:cNvPr id="11" name="Shape 9"/>
          <p:cNvSpPr/>
          <p:nvPr/>
        </p:nvSpPr>
        <p:spPr>
          <a:xfrm>
            <a:off x="566928" y="3941064"/>
            <a:ext cx="402336" cy="402336"/>
          </a:xfrm>
          <a:prstGeom prst="ellipse">
            <a:avLst/>
          </a:prstGeom>
          <a:solidFill>
            <a:srgbClr val="F2A104"/>
          </a:solidFill>
          <a:ln/>
        </p:spPr>
      </p:sp>
      <p:sp>
        <p:nvSpPr>
          <p:cNvPr id="12" name="Text 10"/>
          <p:cNvSpPr/>
          <p:nvPr/>
        </p:nvSpPr>
        <p:spPr>
          <a:xfrm>
            <a:off x="566928" y="3941064"/>
            <a:ext cx="402336" cy="402336"/>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188720" y="3895344"/>
            <a:ext cx="1033272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Find invariants that need no answer key</a:t>
            </a:r>
            <a:endParaRPr lang="en-US" sz="1700" dirty="0"/>
          </a:p>
        </p:txBody>
      </p:sp>
      <p:sp>
        <p:nvSpPr>
          <p:cNvPr id="14" name="Text 12"/>
          <p:cNvSpPr/>
          <p:nvPr/>
        </p:nvSpPr>
        <p:spPr>
          <a:xfrm>
            <a:off x="1188720" y="4242816"/>
            <a:ext cx="10332720" cy="658368"/>
          </a:xfrm>
          <a:prstGeom prst="rect">
            <a:avLst/>
          </a:prstGeom>
          <a:noFill/>
          <a:ln/>
        </p:spPr>
        <p:txBody>
          <a:bodyPr wrap="square" lIns="0" tIns="0" rIns="0" bIns="0" rtlCol="0" anchor="ctr"/>
          <a:lstStyle/>
          <a:p>
            <a:pPr indent="0" marL="0">
              <a:lnSpc>
                <a:spcPct val="115000"/>
              </a:lnSpc>
              <a:buNone/>
            </a:pPr>
            <a:r>
              <a:rPr lang="en-US" sz="1300" dirty="0">
                <a:solidFill>
                  <a:srgbClr val="9FB3C2"/>
                </a:solidFill>
                <a:latin typeface="Calibri" pitchFamily="34" charset="0"/>
                <a:ea typeface="Calibri" pitchFamily="34" charset="-122"/>
                <a:cs typeface="Calibri" pitchFamily="34" charset="-120"/>
              </a:rPr>
              <a:t>“A question naming a package is about that package's client” found three silent wrong answers with zero gold data.</a:t>
            </a:r>
            <a:endParaRPr lang="en-US" sz="1300" dirty="0"/>
          </a:p>
        </p:txBody>
      </p:sp>
      <p:sp>
        <p:nvSpPr>
          <p:cNvPr id="15" name="Shape 13"/>
          <p:cNvSpPr/>
          <p:nvPr/>
        </p:nvSpPr>
        <p:spPr>
          <a:xfrm>
            <a:off x="566928" y="5111496"/>
            <a:ext cx="402336" cy="402336"/>
          </a:xfrm>
          <a:prstGeom prst="ellipse">
            <a:avLst/>
          </a:prstGeom>
          <a:solidFill>
            <a:srgbClr val="F2A104"/>
          </a:solidFill>
          <a:ln/>
        </p:spPr>
      </p:sp>
      <p:sp>
        <p:nvSpPr>
          <p:cNvPr id="16" name="Text 14"/>
          <p:cNvSpPr/>
          <p:nvPr/>
        </p:nvSpPr>
        <p:spPr>
          <a:xfrm>
            <a:off x="566928" y="5111496"/>
            <a:ext cx="402336" cy="402336"/>
          </a:xfrm>
          <a:prstGeom prst="rect">
            <a:avLst/>
          </a:prstGeom>
          <a:noFill/>
          <a:ln/>
        </p:spPr>
        <p:txBody>
          <a:bodyPr wrap="square" lIns="0" tIns="0" rIns="0" bIns="0" rtlCol="0" anchor="ctr"/>
          <a:lstStyle/>
          <a:p>
            <a:pPr algn="ctr" indent="0" marL="0">
              <a:buNone/>
            </a:pPr>
            <a:r>
              <a:rPr lang="en-US" sz="1500" b="1" dirty="0">
                <a:solidFill>
                  <a:srgbClr val="0F1E2E"/>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88720" y="5065776"/>
            <a:ext cx="1033272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Treat the scorer as an instrument</a:t>
            </a:r>
            <a:endParaRPr lang="en-US" sz="1700" dirty="0"/>
          </a:p>
        </p:txBody>
      </p:sp>
      <p:sp>
        <p:nvSpPr>
          <p:cNvPr id="18" name="Text 16"/>
          <p:cNvSpPr/>
          <p:nvPr/>
        </p:nvSpPr>
        <p:spPr>
          <a:xfrm>
            <a:off x="1188720" y="5413248"/>
            <a:ext cx="10332720" cy="658368"/>
          </a:xfrm>
          <a:prstGeom prst="rect">
            <a:avLst/>
          </a:prstGeom>
          <a:noFill/>
          <a:ln/>
        </p:spPr>
        <p:txBody>
          <a:bodyPr wrap="square" lIns="0" tIns="0" rIns="0" bIns="0" rtlCol="0" anchor="ctr"/>
          <a:lstStyle/>
          <a:p>
            <a:pPr indent="0" marL="0">
              <a:lnSpc>
                <a:spcPct val="115000"/>
              </a:lnSpc>
              <a:buNone/>
            </a:pPr>
            <a:r>
              <a:rPr lang="en-US" sz="1300" dirty="0">
                <a:solidFill>
                  <a:srgbClr val="9FB3C2"/>
                </a:solidFill>
                <a:latin typeface="Calibri" pitchFamily="34" charset="0"/>
                <a:ea typeface="Calibri" pitchFamily="34" charset="-122"/>
                <a:cs typeface="Calibri" pitchFamily="34" charset="-120"/>
              </a:rPr>
              <a:t>A three-decimal score over 333 questions resolves a three-hundredth of one question. That is enough to locate a single wrong answer analytically.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8229600" y="-1645920"/>
            <a:ext cx="6035040" cy="6035040"/>
          </a:xfrm>
          <a:prstGeom prst="ellipse">
            <a:avLst/>
          </a:prstGeom>
          <a:solidFill>
            <a:srgbClr val="17293C"/>
          </a:solidFill>
          <a:ln/>
        </p:spPr>
      </p:sp>
      <p:sp>
        <p:nvSpPr>
          <p:cNvPr id="3" name="Text 1"/>
          <p:cNvSpPr/>
          <p:nvPr/>
        </p:nvSpPr>
        <p:spPr>
          <a:xfrm>
            <a:off x="566928" y="1874520"/>
            <a:ext cx="6858000" cy="1371600"/>
          </a:xfrm>
          <a:prstGeom prst="rect">
            <a:avLst/>
          </a:prstGeom>
          <a:noFill/>
          <a:ln/>
        </p:spPr>
        <p:txBody>
          <a:bodyPr wrap="square" lIns="0" tIns="0" rIns="0" bIns="0" rtlCol="0" anchor="ctr"/>
          <a:lstStyle/>
          <a:p>
            <a:pPr indent="0" marL="0">
              <a:buNone/>
            </a:pPr>
            <a:r>
              <a:rPr lang="en-US" sz="7600" b="1" dirty="0">
                <a:solidFill>
                  <a:srgbClr val="F2A104"/>
                </a:solidFill>
                <a:latin typeface="Cambria" pitchFamily="34" charset="0"/>
                <a:ea typeface="Cambria" pitchFamily="34" charset="-122"/>
                <a:cs typeface="Cambria" pitchFamily="34" charset="-120"/>
              </a:rPr>
              <a:t>100.000</a:t>
            </a:r>
            <a:endParaRPr lang="en-US" sz="7600" dirty="0"/>
          </a:p>
        </p:txBody>
      </p:sp>
      <p:sp>
        <p:nvSpPr>
          <p:cNvPr id="4" name="Text 2"/>
          <p:cNvSpPr/>
          <p:nvPr/>
        </p:nvSpPr>
        <p:spPr>
          <a:xfrm>
            <a:off x="566928" y="3291840"/>
            <a:ext cx="6949440" cy="914400"/>
          </a:xfrm>
          <a:prstGeom prst="rect">
            <a:avLst/>
          </a:prstGeom>
          <a:noFill/>
          <a:ln/>
        </p:spPr>
        <p:txBody>
          <a:bodyPr wrap="square" lIns="0" tIns="0" rIns="0" bIns="0" rtlCol="0" anchor="ctr"/>
          <a:lstStyle/>
          <a:p>
            <a:pPr indent="0" marL="0">
              <a:lnSpc>
                <a:spcPct val="125000"/>
              </a:lnSpc>
              <a:buNone/>
            </a:pPr>
            <a:r>
              <a:rPr lang="en-US" sz="1700" dirty="0">
                <a:solidFill>
                  <a:srgbClr val="B9C7D2"/>
                </a:solidFill>
                <a:latin typeface="Calibri" pitchFamily="34" charset="0"/>
                <a:ea typeface="Calibri" pitchFamily="34" charset="-122"/>
                <a:cs typeface="Calibri" pitchFamily="34" charset="-120"/>
              </a:rPr>
              <a:t>333 of 333 questions exact, over 687 documents</a:t>
            </a:r>
            <a:endParaRPr lang="en-US" sz="1700" dirty="0"/>
          </a:p>
          <a:p>
            <a:pPr indent="0" marL="0">
              <a:lnSpc>
                <a:spcPct val="125000"/>
              </a:lnSpc>
              <a:buNone/>
            </a:pPr>
            <a:r>
              <a:rPr lang="en-US" sz="1700" dirty="0">
                <a:solidFill>
                  <a:srgbClr val="B9C7D2"/>
                </a:solidFill>
                <a:latin typeface="Calibri" pitchFamily="34" charset="0"/>
                <a:ea typeface="Calibri" pitchFamily="34" charset="-122"/>
                <a:cs typeface="Calibri" pitchFamily="34" charset="-120"/>
              </a:rPr>
              <a:t>and a database that was never given to us.</a:t>
            </a:r>
            <a:endParaRPr lang="en-US" sz="1700" dirty="0"/>
          </a:p>
        </p:txBody>
      </p:sp>
      <p:sp>
        <p:nvSpPr>
          <p:cNvPr id="5" name="Shape 3"/>
          <p:cNvSpPr/>
          <p:nvPr/>
        </p:nvSpPr>
        <p:spPr>
          <a:xfrm>
            <a:off x="566928" y="4526280"/>
            <a:ext cx="6949440" cy="1051560"/>
          </a:xfrm>
          <a:prstGeom prst="roundRect">
            <a:avLst>
              <a:gd name="adj" fmla="val 6957"/>
            </a:avLst>
          </a:prstGeom>
          <a:solidFill>
            <a:srgbClr val="17293C"/>
          </a:solidFill>
          <a:ln/>
        </p:spPr>
      </p:sp>
      <p:sp>
        <p:nvSpPr>
          <p:cNvPr id="6" name="Text 4"/>
          <p:cNvSpPr/>
          <p:nvPr/>
        </p:nvSpPr>
        <p:spPr>
          <a:xfrm>
            <a:off x="795528" y="4617720"/>
            <a:ext cx="6492240" cy="86868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No language model runs in the answer path.</a:t>
            </a:r>
            <a:endParaRPr lang="en-US" sz="1350" dirty="0"/>
          </a:p>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Every number is computed in Python from exactly-parsed integers.</a:t>
            </a:r>
            <a:endParaRPr lang="en-US" sz="1350" dirty="0"/>
          </a:p>
        </p:txBody>
      </p:sp>
      <p:sp>
        <p:nvSpPr>
          <p:cNvPr id="7" name="Text 5"/>
          <p:cNvSpPr/>
          <p:nvPr/>
        </p:nvSpPr>
        <p:spPr>
          <a:xfrm>
            <a:off x="566928" y="5715000"/>
            <a:ext cx="6949440" cy="365760"/>
          </a:xfrm>
          <a:prstGeom prst="rect">
            <a:avLst/>
          </a:prstGeom>
          <a:noFill/>
          <a:ln/>
        </p:spPr>
        <p:txBody>
          <a:bodyPr wrap="square" lIns="0" tIns="0" rIns="0" bIns="0" rtlCol="0" anchor="ctr"/>
          <a:lstStyle/>
          <a:p>
            <a:pPr indent="0" marL="0">
              <a:buNone/>
            </a:pPr>
            <a:r>
              <a:rPr lang="en-US" sz="1800" i="1" dirty="0">
                <a:solidFill>
                  <a:srgbClr val="7C8FA0"/>
                </a:solidFill>
                <a:latin typeface="Cambria" pitchFamily="34" charset="0"/>
                <a:ea typeface="Cambria" pitchFamily="34" charset="-122"/>
                <a:cs typeface="Cambria" pitchFamily="34" charset="-120"/>
              </a:rPr>
              <a:t>Thank you — questions welcome</a:t>
            </a:r>
            <a:endParaRPr lang="en-US" sz="1800" dirty="0"/>
          </a:p>
        </p:txBody>
      </p:sp>
      <p:sp>
        <p:nvSpPr>
          <p:cNvPr id="8" name="Text 6"/>
          <p:cNvSpPr/>
          <p:nvPr/>
        </p:nvSpPr>
        <p:spPr>
          <a:xfrm>
            <a:off x="566928" y="6172200"/>
            <a:ext cx="8686800" cy="274320"/>
          </a:xfrm>
          <a:prstGeom prst="rect">
            <a:avLst/>
          </a:prstGeom>
          <a:noFill/>
          <a:ln/>
        </p:spPr>
        <p:txBody>
          <a:bodyPr wrap="square" lIns="0" tIns="0" rIns="0" bIns="0" rtlCol="0" anchor="ctr"/>
          <a:lstStyle/>
          <a:p>
            <a:pPr indent="0" marL="0">
              <a:buNone/>
            </a:pPr>
            <a:r>
              <a:rPr lang="en-US" sz="1050" dirty="0">
                <a:solidFill>
                  <a:srgbClr val="2A5C7A"/>
                </a:solidFill>
                <a:latin typeface="Courier New" pitchFamily="34" charset="0"/>
                <a:ea typeface="Courier New" pitchFamily="34" charset="-122"/>
                <a:cs typeface="Courier New" pitchFamily="34" charset="-120"/>
              </a:rPr>
              <a:t>github.com/nilaymastaadmi/jaw2026-trust-reliability   ·   JAW 2026 on GikaGraph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JAW 2026 — Rebuilding a Withheld Database</dc:title>
  <dc:subject>PptxGenJS Presentation</dc:subject>
  <dc:creator>National Infrastructure Corp. bid-intelligence entry</dc:creator>
  <cp:lastModifiedBy>National Infrastructure Corp. bid-intelligence entry</cp:lastModifiedBy>
  <cp:revision>1</cp:revision>
  <dcterms:created xsi:type="dcterms:W3CDTF">2026-08-11T12:14:53Z</dcterms:created>
  <dcterms:modified xsi:type="dcterms:W3CDTF">2026-08-11T12:14:53Z</dcterms:modified>
</cp:coreProperties>
</file>